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3"/>
  </p:notesMasterIdLst>
  <p:handoutMasterIdLst>
    <p:handoutMasterId r:id="rId24"/>
  </p:handoutMasterIdLst>
  <p:sldIdLst>
    <p:sldId id="278" r:id="rId5"/>
    <p:sldId id="282" r:id="rId6"/>
    <p:sldId id="331" r:id="rId7"/>
    <p:sldId id="324" r:id="rId8"/>
    <p:sldId id="335" r:id="rId9"/>
    <p:sldId id="297" r:id="rId10"/>
    <p:sldId id="339" r:id="rId11"/>
    <p:sldId id="325" r:id="rId12"/>
    <p:sldId id="336" r:id="rId13"/>
    <p:sldId id="337" r:id="rId14"/>
    <p:sldId id="342" r:id="rId15"/>
    <p:sldId id="338" r:id="rId16"/>
    <p:sldId id="340" r:id="rId17"/>
    <p:sldId id="341" r:id="rId18"/>
    <p:sldId id="334" r:id="rId19"/>
    <p:sldId id="344" r:id="rId20"/>
    <p:sldId id="343" r:id="rId21"/>
    <p:sldId id="329" r:id="rId2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388" autoAdjust="0"/>
  </p:normalViewPr>
  <p:slideViewPr>
    <p:cSldViewPr snapToGrid="0" snapToObjects="1">
      <p:cViewPr varScale="1">
        <p:scale>
          <a:sx n="91" d="100"/>
          <a:sy n="91" d="100"/>
        </p:scale>
        <p:origin x="322"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E11450-27DE-4D7A-9C1B-77A9C2905204}" type="doc">
      <dgm:prSet loTypeId="urn:microsoft.com/office/officeart/2005/8/layout/bProcess3" loCatId="process" qsTypeId="urn:microsoft.com/office/officeart/2005/8/quickstyle/simple1" qsCatId="simple" csTypeId="urn:microsoft.com/office/officeart/2005/8/colors/accent0_2" csCatId="mainScheme" phldr="1"/>
      <dgm:spPr/>
      <dgm:t>
        <a:bodyPr/>
        <a:lstStyle/>
        <a:p>
          <a:endParaRPr lang="en-US"/>
        </a:p>
      </dgm:t>
    </dgm:pt>
    <dgm:pt modelId="{A5288885-79FA-4936-9A1E-294B51A3FEFC}" type="pres">
      <dgm:prSet presAssocID="{67E11450-27DE-4D7A-9C1B-77A9C2905204}" presName="Name0" presStyleCnt="0">
        <dgm:presLayoutVars>
          <dgm:dir/>
          <dgm:resizeHandles val="exact"/>
        </dgm:presLayoutVars>
      </dgm:prSet>
      <dgm:spPr/>
    </dgm:pt>
  </dgm:ptLst>
  <dgm:cxnLst>
    <dgm:cxn modelId="{F9DD0993-7A6D-4768-B839-BE50076A033B}" type="presOf" srcId="{67E11450-27DE-4D7A-9C1B-77A9C2905204}" destId="{A5288885-79FA-4936-9A1E-294B51A3FEFC}" srcOrd="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3EB1A-092D-0CE4-6CA3-F2B683B5A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2F878-C91E-EA06-9E8D-72B9901FF95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2E389DD-4080-5359-53C9-B3B0DFBD85F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97720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1749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s://docs.ultralytics.com/"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title"/>
          </p:nvPr>
        </p:nvSpPr>
        <p:spPr/>
        <p:txBody>
          <a:bodyPr>
            <a:normAutofit/>
          </a:bodyPr>
          <a:lstStyle/>
          <a:p>
            <a:br>
              <a:rPr lang="en-US" dirty="0"/>
            </a:br>
            <a:endParaRPr lang="en-US" dirty="0"/>
          </a:p>
        </p:txBody>
      </p:sp>
      <p:sp>
        <p:nvSpPr>
          <p:cNvPr id="3" name="Subtitle 2">
            <a:extLst>
              <a:ext uri="{FF2B5EF4-FFF2-40B4-BE49-F238E27FC236}">
                <a16:creationId xmlns:a16="http://schemas.microsoft.com/office/drawing/2014/main" id="{86C1060B-300F-3CE3-E5AA-D8E29791C960}"/>
              </a:ext>
            </a:extLst>
          </p:cNvPr>
          <p:cNvSpPr>
            <a:spLocks noGrp="1"/>
          </p:cNvSpPr>
          <p:nvPr>
            <p:ph sz="half" idx="4294967295"/>
          </p:nvPr>
        </p:nvSpPr>
        <p:spPr>
          <a:xfrm>
            <a:off x="284480" y="1701406"/>
            <a:ext cx="11521440" cy="4822298"/>
          </a:xfrm>
        </p:spPr>
        <p:txBody>
          <a:bodyPr>
            <a:normAutofit/>
          </a:bodyPr>
          <a:lstStyle/>
          <a:p>
            <a:pPr marL="0" indent="0">
              <a:buNone/>
            </a:pPr>
            <a:r>
              <a:rPr lang="en-US" sz="2400" dirty="0"/>
              <a:t>                          </a:t>
            </a:r>
            <a:r>
              <a:rPr lang="en-US" sz="2400" dirty="0">
                <a:solidFill>
                  <a:schemeClr val="tx1"/>
                </a:solidFill>
                <a:latin typeface="Aptos Display" panose="020B0004020202020204" pitchFamily="34" charset="0"/>
              </a:rPr>
              <a:t>DEPARTMENT OF COMPUTER SCIENCE AND ENGINEERING (AI&amp;ML)</a:t>
            </a:r>
          </a:p>
          <a:p>
            <a:pPr marL="0" indent="0">
              <a:buNone/>
            </a:pPr>
            <a:r>
              <a:rPr lang="en-US" sz="2000" b="1" dirty="0">
                <a:solidFill>
                  <a:schemeClr val="tx1"/>
                </a:solidFill>
              </a:rPr>
              <a:t>                                      Pedestrian Detection using YOLOv8 with </a:t>
            </a:r>
            <a:r>
              <a:rPr lang="en-US" sz="2000" b="1" dirty="0" err="1">
                <a:solidFill>
                  <a:schemeClr val="tx1"/>
                </a:solidFill>
              </a:rPr>
              <a:t>OpenVINO</a:t>
            </a:r>
            <a:r>
              <a:rPr lang="en-US" sz="2000" b="1" dirty="0">
                <a:solidFill>
                  <a:schemeClr val="tx1"/>
                </a:solidFill>
              </a:rPr>
              <a:t> Optimization</a:t>
            </a:r>
            <a:endParaRPr lang="en-US" sz="2000" b="1" dirty="0">
              <a:solidFill>
                <a:schemeClr val="tx1"/>
              </a:solidFill>
              <a:latin typeface="Aptos Display" panose="020B0004020202020204" pitchFamily="34" charset="0"/>
            </a:endParaRPr>
          </a:p>
          <a:p>
            <a:pPr marL="0" indent="0">
              <a:buNone/>
            </a:pPr>
            <a:r>
              <a:rPr lang="en-US" sz="2400" dirty="0">
                <a:solidFill>
                  <a:schemeClr val="tx1"/>
                </a:solidFill>
                <a:latin typeface="Aptos Display" panose="020B0004020202020204" pitchFamily="34" charset="0"/>
              </a:rPr>
              <a:t>                                                                                  PRESENTED BY    </a:t>
            </a:r>
          </a:p>
          <a:p>
            <a:pPr marL="0" indent="0">
              <a:buNone/>
            </a:pPr>
            <a:r>
              <a:rPr lang="en-US" sz="1800" dirty="0">
                <a:solidFill>
                  <a:schemeClr val="tx1"/>
                </a:solidFill>
              </a:rPr>
              <a:t>                                                                 P. SAI SRIKAR – [ROLL.NO – 22671A6631]</a:t>
            </a:r>
          </a:p>
          <a:p>
            <a:pPr marL="0" indent="0">
              <a:buNone/>
            </a:pPr>
            <a:r>
              <a:rPr lang="en-US" sz="1800" dirty="0">
                <a:solidFill>
                  <a:schemeClr val="tx1"/>
                </a:solidFill>
              </a:rPr>
              <a:t>                                                                 P. SAIDEEP      – [ROLL.NO – 22671A6651]</a:t>
            </a:r>
          </a:p>
          <a:p>
            <a:pPr marL="0" indent="0">
              <a:buNone/>
            </a:pPr>
            <a:r>
              <a:rPr lang="en-US" sz="1800" dirty="0">
                <a:solidFill>
                  <a:schemeClr val="tx1"/>
                </a:solidFill>
              </a:rPr>
              <a:t>                                                                 B. SHRUTI       – [ROLL.NO – 22671A6653]</a:t>
            </a:r>
          </a:p>
          <a:p>
            <a:pPr marL="0" indent="0">
              <a:buNone/>
            </a:pPr>
            <a:endParaRPr lang="en-US" sz="1800" dirty="0">
              <a:solidFill>
                <a:schemeClr val="tx1"/>
              </a:solidFill>
            </a:endParaRPr>
          </a:p>
          <a:p>
            <a:pPr marL="0" indent="0">
              <a:buNone/>
            </a:pPr>
            <a:r>
              <a:rPr lang="en-US" sz="1800" dirty="0">
                <a:solidFill>
                  <a:schemeClr val="tx1"/>
                </a:solidFill>
              </a:rPr>
              <a:t>                                                                GUIDANCE BY : MR. MD. MAHEBUB ALI,</a:t>
            </a:r>
          </a:p>
          <a:p>
            <a:pPr marL="0" indent="0">
              <a:buNone/>
            </a:pPr>
            <a:r>
              <a:rPr lang="en-US" sz="1800" dirty="0">
                <a:solidFill>
                  <a:schemeClr val="tx1"/>
                </a:solidFill>
              </a:rPr>
              <a:t>                                                                       ASSISTANT PROFESSOR, AI&amp;ML  </a:t>
            </a:r>
          </a:p>
          <a:p>
            <a:pPr marL="0" indent="0">
              <a:buNone/>
            </a:pPr>
            <a:endParaRPr lang="en-US" sz="1800" dirty="0">
              <a:solidFill>
                <a:schemeClr val="tx1"/>
              </a:solidFill>
            </a:endParaRPr>
          </a:p>
          <a:p>
            <a:pPr marL="0" indent="0">
              <a:buNone/>
            </a:pPr>
            <a:r>
              <a:rPr lang="en-US" sz="1800" dirty="0">
                <a:solidFill>
                  <a:schemeClr val="tx1"/>
                </a:solidFill>
              </a:rPr>
              <a:t>                                                                       </a:t>
            </a:r>
          </a:p>
        </p:txBody>
      </p:sp>
      <p:pic>
        <p:nvPicPr>
          <p:cNvPr id="5" name="Picture 4">
            <a:extLst>
              <a:ext uri="{FF2B5EF4-FFF2-40B4-BE49-F238E27FC236}">
                <a16:creationId xmlns:a16="http://schemas.microsoft.com/office/drawing/2014/main" id="{4A75D131-B4E3-E81D-9AF9-D8D111C56F64}"/>
              </a:ext>
            </a:extLst>
          </p:cNvPr>
          <p:cNvPicPr>
            <a:picLocks noChangeAspect="1"/>
          </p:cNvPicPr>
          <p:nvPr/>
        </p:nvPicPr>
        <p:blipFill>
          <a:blip r:embed="rId2"/>
          <a:stretch>
            <a:fillRect/>
          </a:stretch>
        </p:blipFill>
        <p:spPr>
          <a:xfrm>
            <a:off x="0" y="1"/>
            <a:ext cx="12191999" cy="1186970"/>
          </a:xfrm>
          <a:prstGeom prst="rect">
            <a:avLst/>
          </a:prstGeom>
        </p:spPr>
      </p:pic>
      <p:sp>
        <p:nvSpPr>
          <p:cNvPr id="4" name="TextBox 3">
            <a:extLst>
              <a:ext uri="{FF2B5EF4-FFF2-40B4-BE49-F238E27FC236}">
                <a16:creationId xmlns:a16="http://schemas.microsoft.com/office/drawing/2014/main" id="{E3268174-EC05-57B1-FCB0-BCDF030562CF}"/>
              </a:ext>
            </a:extLst>
          </p:cNvPr>
          <p:cNvSpPr txBox="1"/>
          <p:nvPr/>
        </p:nvSpPr>
        <p:spPr>
          <a:xfrm>
            <a:off x="12558875" y="216891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334730" y="63109"/>
            <a:ext cx="7965461" cy="994164"/>
          </a:xfrm>
        </p:spPr>
        <p:txBody>
          <a:bodyPr/>
          <a:lstStyle/>
          <a:p>
            <a:r>
              <a:rPr lang="en-US" sz="2800" dirty="0"/>
              <a:t>Abstract:</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334731" y="1322778"/>
            <a:ext cx="7965460" cy="3497698"/>
          </a:xfrm>
        </p:spPr>
        <p:txBody>
          <a:bodyPr>
            <a:noAutofit/>
          </a:bodyPr>
          <a:lstStyle/>
          <a:p>
            <a:pPr marL="0" indent="0" algn="just">
              <a:buNone/>
            </a:pPr>
            <a:r>
              <a:rPr lang="en-US" sz="1400" dirty="0"/>
              <a:t>Pedestrian detection is a critical component in autonomous driving, surveillance systems, and smart traffic management, where real-time accuracy and computational efficiency are paramount. This project presents a pedestrian detection system developed using the YOLOv8s deep learning model trained on the KITTI Vision Benchmark dataset, comprising 1,779 annotated pedestrian images captured from a front-facing dashcam perspective. The trained model achieved a mean Average Precision (mAP50) of 0.842, with a precision of 0.887 and recall of 0.733, demonstrating strong detection performance on real-world driving scenarios. To address the challenge of deploying deep learning models on resource-constrained hardware without dedicated GPU support, Intel's </a:t>
            </a:r>
            <a:r>
              <a:rPr lang="en-US" sz="1400" dirty="0" err="1"/>
              <a:t>OpenVINO</a:t>
            </a:r>
            <a:r>
              <a:rPr lang="en-US" sz="1400" dirty="0"/>
              <a:t> toolkit was employed to optimize the trained model through INT8 post-training quantization, reducing the model size from 42.8 MB to 11 MB and achieving a 2.24× inference speedup over standard </a:t>
            </a:r>
            <a:r>
              <a:rPr lang="en-US" sz="1400" dirty="0" err="1"/>
              <a:t>PyTorch</a:t>
            </a:r>
            <a:r>
              <a:rPr lang="en-US" sz="1400" dirty="0"/>
              <a:t>, enabling real-time detection at 30 frames per second on a standard Intel CPU. The optimized model was further integrated into an interactive web application built using Flask, HTML, CSS, and JavaScript, providing features including image detection, video processing, and a dataset browser for live demonstrations. This project demonstrates that high-accuracy pedestrian detection can be achieved and deployed efficiently on commodity hardware through model optimization, making it viable for edge computing and real-world autonomous systems without the need for expensive GPU infrastructure.</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3CEB3D-0C9C-A62A-736E-B8B104E0D372}"/>
              </a:ext>
            </a:extLst>
          </p:cNvPr>
          <p:cNvSpPr>
            <a:spLocks noGrp="1"/>
          </p:cNvSpPr>
          <p:nvPr>
            <p:ph type="sldNum" sz="quarter" idx="12"/>
          </p:nvPr>
        </p:nvSpPr>
        <p:spPr/>
        <p:txBody>
          <a:bodyPr/>
          <a:lstStyle/>
          <a:p>
            <a:fld id="{48F63A3B-78C7-47BE-AE5E-E10140E04643}" type="slidenum">
              <a:rPr lang="en-US" smtClean="0"/>
              <a:pPr/>
              <a:t>3</a:t>
            </a:fld>
            <a:endParaRPr lang="en-US" dirty="0"/>
          </a:p>
        </p:txBody>
      </p:sp>
      <p:sp>
        <p:nvSpPr>
          <p:cNvPr id="3" name="TextBox 2">
            <a:extLst>
              <a:ext uri="{FF2B5EF4-FFF2-40B4-BE49-F238E27FC236}">
                <a16:creationId xmlns:a16="http://schemas.microsoft.com/office/drawing/2014/main" id="{AEA1B5A8-2080-669F-9B8B-7AF247FEF383}"/>
              </a:ext>
            </a:extLst>
          </p:cNvPr>
          <p:cNvSpPr txBox="1"/>
          <p:nvPr/>
        </p:nvSpPr>
        <p:spPr>
          <a:xfrm>
            <a:off x="3933354" y="551441"/>
            <a:ext cx="8632272" cy="584775"/>
          </a:xfrm>
          <a:prstGeom prst="rect">
            <a:avLst/>
          </a:prstGeom>
          <a:noFill/>
        </p:spPr>
        <p:txBody>
          <a:bodyPr wrap="square" rtlCol="0">
            <a:spAutoFit/>
          </a:bodyPr>
          <a:lstStyle/>
          <a:p>
            <a:r>
              <a:rPr lang="en-US" sz="3200" dirty="0">
                <a:solidFill>
                  <a:schemeClr val="accent6"/>
                </a:solidFill>
                <a:latin typeface="+mj-lt"/>
              </a:rPr>
              <a:t>DATASET OVERVIEW</a:t>
            </a:r>
          </a:p>
        </p:txBody>
      </p:sp>
      <p:graphicFrame>
        <p:nvGraphicFramePr>
          <p:cNvPr id="6" name="Table 5">
            <a:extLst>
              <a:ext uri="{FF2B5EF4-FFF2-40B4-BE49-F238E27FC236}">
                <a16:creationId xmlns:a16="http://schemas.microsoft.com/office/drawing/2014/main" id="{A8E91B8D-073D-F462-AB56-86FF2664F63D}"/>
              </a:ext>
            </a:extLst>
          </p:cNvPr>
          <p:cNvGraphicFramePr>
            <a:graphicFrameLocks noGrp="1"/>
          </p:cNvGraphicFramePr>
          <p:nvPr>
            <p:extLst>
              <p:ext uri="{D42A27DB-BD31-4B8C-83A1-F6EECF244321}">
                <p14:modId xmlns:p14="http://schemas.microsoft.com/office/powerpoint/2010/main" val="1850214901"/>
              </p:ext>
            </p:extLst>
          </p:nvPr>
        </p:nvGraphicFramePr>
        <p:xfrm>
          <a:off x="758824" y="2281806"/>
          <a:ext cx="11027707" cy="3186021"/>
        </p:xfrm>
        <a:graphic>
          <a:graphicData uri="http://schemas.openxmlformats.org/drawingml/2006/table">
            <a:tbl>
              <a:tblPr/>
              <a:tblGrid>
                <a:gridCol w="3165478">
                  <a:extLst>
                    <a:ext uri="{9D8B030D-6E8A-4147-A177-3AD203B41FA5}">
                      <a16:colId xmlns:a16="http://schemas.microsoft.com/office/drawing/2014/main" val="2180674492"/>
                    </a:ext>
                  </a:extLst>
                </a:gridCol>
                <a:gridCol w="7862229">
                  <a:extLst>
                    <a:ext uri="{9D8B030D-6E8A-4147-A177-3AD203B41FA5}">
                      <a16:colId xmlns:a16="http://schemas.microsoft.com/office/drawing/2014/main" val="597989257"/>
                    </a:ext>
                  </a:extLst>
                </a:gridCol>
              </a:tblGrid>
              <a:tr h="490157">
                <a:tc>
                  <a:txBody>
                    <a:bodyPr/>
                    <a:lstStyle/>
                    <a:p>
                      <a:pPr>
                        <a:buNone/>
                      </a:pPr>
                      <a:endParaRPr lang="en-US" sz="1800" dirty="0"/>
                    </a:p>
                  </a:txBody>
                  <a:tcPr anchor="ctr">
                    <a:lnL>
                      <a:noFill/>
                    </a:lnL>
                    <a:lnR>
                      <a:noFill/>
                    </a:lnR>
                    <a:lnT>
                      <a:noFill/>
                    </a:lnT>
                    <a:lnB>
                      <a:noFill/>
                    </a:lnB>
                    <a:noFill/>
                  </a:tcPr>
                </a:tc>
                <a:tc>
                  <a:txBody>
                    <a:bodyPr/>
                    <a:lstStyle/>
                    <a:p>
                      <a:pPr>
                        <a:buNone/>
                      </a:pPr>
                      <a:endParaRPr lang="en-US" sz="1800" dirty="0"/>
                    </a:p>
                  </a:txBody>
                  <a:tcPr anchor="ctr">
                    <a:lnL>
                      <a:noFill/>
                    </a:lnL>
                    <a:lnR>
                      <a:noFill/>
                    </a:lnR>
                    <a:lnT>
                      <a:noFill/>
                    </a:lnT>
                    <a:lnB>
                      <a:noFill/>
                    </a:lnB>
                    <a:noFill/>
                  </a:tcPr>
                </a:tc>
                <a:extLst>
                  <a:ext uri="{0D108BD9-81ED-4DB2-BD59-A6C34878D82A}">
                    <a16:rowId xmlns:a16="http://schemas.microsoft.com/office/drawing/2014/main" val="345331124"/>
                  </a:ext>
                </a:extLst>
              </a:tr>
              <a:tr h="490157">
                <a:tc>
                  <a:txBody>
                    <a:bodyPr/>
                    <a:lstStyle/>
                    <a:p>
                      <a:pPr>
                        <a:buNone/>
                      </a:pPr>
                      <a:endParaRPr lang="en-US" sz="1800"/>
                    </a:p>
                  </a:txBody>
                  <a:tcPr anchor="ctr">
                    <a:lnL>
                      <a:noFill/>
                    </a:lnL>
                    <a:lnR>
                      <a:noFill/>
                    </a:lnR>
                    <a:lnT>
                      <a:noFill/>
                    </a:lnT>
                    <a:lnB>
                      <a:noFill/>
                    </a:lnB>
                    <a:noFill/>
                  </a:tcPr>
                </a:tc>
                <a:tc>
                  <a:txBody>
                    <a:bodyPr/>
                    <a:lstStyle/>
                    <a:p>
                      <a:pPr>
                        <a:buNone/>
                      </a:pPr>
                      <a:endParaRPr lang="en-US" sz="1800"/>
                    </a:p>
                  </a:txBody>
                  <a:tcPr anchor="ctr">
                    <a:lnL>
                      <a:noFill/>
                    </a:lnL>
                    <a:lnR>
                      <a:noFill/>
                    </a:lnR>
                    <a:lnT>
                      <a:noFill/>
                    </a:lnT>
                    <a:lnB>
                      <a:noFill/>
                    </a:lnB>
                    <a:noFill/>
                  </a:tcPr>
                </a:tc>
                <a:extLst>
                  <a:ext uri="{0D108BD9-81ED-4DB2-BD59-A6C34878D82A}">
                    <a16:rowId xmlns:a16="http://schemas.microsoft.com/office/drawing/2014/main" val="3800840784"/>
                  </a:ext>
                </a:extLst>
              </a:tr>
              <a:tr h="857775">
                <a:tc>
                  <a:txBody>
                    <a:bodyPr/>
                    <a:lstStyle/>
                    <a:p>
                      <a:pPr>
                        <a:buNone/>
                      </a:pPr>
                      <a:endParaRPr lang="en-US" sz="1800" dirty="0"/>
                    </a:p>
                  </a:txBody>
                  <a:tcPr anchor="ctr">
                    <a:lnL>
                      <a:noFill/>
                    </a:lnL>
                    <a:lnR>
                      <a:noFill/>
                    </a:lnR>
                    <a:lnT>
                      <a:noFill/>
                    </a:lnT>
                    <a:lnB>
                      <a:noFill/>
                    </a:lnB>
                    <a:noFill/>
                  </a:tcPr>
                </a:tc>
                <a:tc>
                  <a:txBody>
                    <a:bodyPr/>
                    <a:lstStyle/>
                    <a:p>
                      <a:pPr>
                        <a:buNone/>
                      </a:pPr>
                      <a:endParaRPr lang="en-US" sz="1800" dirty="0"/>
                    </a:p>
                  </a:txBody>
                  <a:tcPr anchor="ctr">
                    <a:lnL>
                      <a:noFill/>
                    </a:lnL>
                    <a:lnR>
                      <a:noFill/>
                    </a:lnR>
                    <a:lnT>
                      <a:noFill/>
                    </a:lnT>
                    <a:lnB>
                      <a:noFill/>
                    </a:lnB>
                    <a:noFill/>
                  </a:tcPr>
                </a:tc>
                <a:extLst>
                  <a:ext uri="{0D108BD9-81ED-4DB2-BD59-A6C34878D82A}">
                    <a16:rowId xmlns:a16="http://schemas.microsoft.com/office/drawing/2014/main" val="1926711034"/>
                  </a:ext>
                </a:extLst>
              </a:tr>
              <a:tr h="490157">
                <a:tc>
                  <a:txBody>
                    <a:bodyPr/>
                    <a:lstStyle/>
                    <a:p>
                      <a:pPr>
                        <a:buNone/>
                      </a:pPr>
                      <a:endParaRPr lang="en-US" sz="1800"/>
                    </a:p>
                  </a:txBody>
                  <a:tcPr anchor="ctr">
                    <a:lnL>
                      <a:noFill/>
                    </a:lnL>
                    <a:lnR>
                      <a:noFill/>
                    </a:lnR>
                    <a:lnT>
                      <a:noFill/>
                    </a:lnT>
                    <a:lnB>
                      <a:noFill/>
                    </a:lnB>
                    <a:noFill/>
                  </a:tcPr>
                </a:tc>
                <a:tc>
                  <a:txBody>
                    <a:bodyPr/>
                    <a:lstStyle/>
                    <a:p>
                      <a:pPr>
                        <a:buNone/>
                      </a:pPr>
                      <a:endParaRPr lang="en-US" sz="1800" dirty="0"/>
                    </a:p>
                  </a:txBody>
                  <a:tcPr anchor="ctr">
                    <a:lnL>
                      <a:noFill/>
                    </a:lnL>
                    <a:lnR>
                      <a:noFill/>
                    </a:lnR>
                    <a:lnT>
                      <a:noFill/>
                    </a:lnT>
                    <a:lnB>
                      <a:noFill/>
                    </a:lnB>
                    <a:noFill/>
                  </a:tcPr>
                </a:tc>
                <a:extLst>
                  <a:ext uri="{0D108BD9-81ED-4DB2-BD59-A6C34878D82A}">
                    <a16:rowId xmlns:a16="http://schemas.microsoft.com/office/drawing/2014/main" val="3462159668"/>
                  </a:ext>
                </a:extLst>
              </a:tr>
              <a:tr h="857775">
                <a:tc>
                  <a:txBody>
                    <a:bodyPr/>
                    <a:lstStyle/>
                    <a:p>
                      <a:pPr>
                        <a:buNone/>
                      </a:pPr>
                      <a:endParaRPr lang="en-US" sz="1800"/>
                    </a:p>
                  </a:txBody>
                  <a:tcPr anchor="ctr">
                    <a:lnL>
                      <a:noFill/>
                    </a:lnL>
                    <a:lnR>
                      <a:noFill/>
                    </a:lnR>
                    <a:lnT>
                      <a:noFill/>
                    </a:lnT>
                    <a:lnB>
                      <a:noFill/>
                    </a:lnB>
                    <a:noFill/>
                  </a:tcPr>
                </a:tc>
                <a:tc>
                  <a:txBody>
                    <a:bodyPr/>
                    <a:lstStyle/>
                    <a:p>
                      <a:pPr>
                        <a:buNone/>
                      </a:pPr>
                      <a:endParaRPr lang="en-US" sz="1800" dirty="0"/>
                    </a:p>
                  </a:txBody>
                  <a:tcPr anchor="ctr">
                    <a:lnL>
                      <a:noFill/>
                    </a:lnL>
                    <a:lnR>
                      <a:noFill/>
                    </a:lnR>
                    <a:lnT>
                      <a:noFill/>
                    </a:lnT>
                    <a:lnB>
                      <a:noFill/>
                    </a:lnB>
                    <a:noFill/>
                  </a:tcPr>
                </a:tc>
                <a:extLst>
                  <a:ext uri="{0D108BD9-81ED-4DB2-BD59-A6C34878D82A}">
                    <a16:rowId xmlns:a16="http://schemas.microsoft.com/office/drawing/2014/main" val="3816532306"/>
                  </a:ext>
                </a:extLst>
              </a:tr>
            </a:tbl>
          </a:graphicData>
        </a:graphic>
      </p:graphicFrame>
      <p:graphicFrame>
        <p:nvGraphicFramePr>
          <p:cNvPr id="8" name="Table 7">
            <a:extLst>
              <a:ext uri="{FF2B5EF4-FFF2-40B4-BE49-F238E27FC236}">
                <a16:creationId xmlns:a16="http://schemas.microsoft.com/office/drawing/2014/main" id="{6D14EDA4-9947-940B-4AD5-8C13D36123FF}"/>
              </a:ext>
            </a:extLst>
          </p:cNvPr>
          <p:cNvGraphicFramePr>
            <a:graphicFrameLocks noGrp="1"/>
          </p:cNvGraphicFramePr>
          <p:nvPr>
            <p:extLst>
              <p:ext uri="{D42A27DB-BD31-4B8C-83A1-F6EECF244321}">
                <p14:modId xmlns:p14="http://schemas.microsoft.com/office/powerpoint/2010/main" val="342480161"/>
              </p:ext>
            </p:extLst>
          </p:nvPr>
        </p:nvGraphicFramePr>
        <p:xfrm>
          <a:off x="2208677" y="1465006"/>
          <a:ext cx="8128000" cy="3657600"/>
        </p:xfrm>
        <a:graphic>
          <a:graphicData uri="http://schemas.openxmlformats.org/drawingml/2006/table">
            <a:tbl>
              <a:tblPr firstRow="1" bandRow="1">
                <a:tableStyleId>{68D230F3-CF80-4859-8CE7-A43EE81993B5}</a:tableStyleId>
              </a:tblPr>
              <a:tblGrid>
                <a:gridCol w="4064000">
                  <a:extLst>
                    <a:ext uri="{9D8B030D-6E8A-4147-A177-3AD203B41FA5}">
                      <a16:colId xmlns:a16="http://schemas.microsoft.com/office/drawing/2014/main" val="238447281"/>
                    </a:ext>
                  </a:extLst>
                </a:gridCol>
                <a:gridCol w="4064000">
                  <a:extLst>
                    <a:ext uri="{9D8B030D-6E8A-4147-A177-3AD203B41FA5}">
                      <a16:colId xmlns:a16="http://schemas.microsoft.com/office/drawing/2014/main" val="4215284626"/>
                    </a:ext>
                  </a:extLst>
                </a:gridCol>
              </a:tblGrid>
              <a:tr h="731520">
                <a:tc>
                  <a:txBody>
                    <a:bodyPr/>
                    <a:lstStyle/>
                    <a:p>
                      <a:pPr>
                        <a:buNone/>
                      </a:pPr>
                      <a:r>
                        <a:rPr lang="en-US"/>
                        <a:t>Attribute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5052256"/>
                  </a:ext>
                </a:extLst>
              </a:tr>
              <a:tr h="731520">
                <a:tc>
                  <a:txBody>
                    <a:bodyPr/>
                    <a:lstStyle/>
                    <a:p>
                      <a:pPr>
                        <a:buNone/>
                      </a:pPr>
                      <a:r>
                        <a:rPr lang="en-US" b="1"/>
                        <a:t>Dataset Name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KITTI Vision Benchmark Suite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8390048"/>
                  </a:ext>
                </a:extLst>
              </a:tr>
              <a:tr h="731520">
                <a:tc>
                  <a:txBody>
                    <a:bodyPr/>
                    <a:lstStyle/>
                    <a:p>
                      <a:pPr>
                        <a:buNone/>
                      </a:pPr>
                      <a:r>
                        <a:rPr lang="en-US" b="1"/>
                        <a:t>Number of Classes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8 object classes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3321110"/>
                  </a:ext>
                </a:extLst>
              </a:tr>
              <a:tr h="731520">
                <a:tc>
                  <a:txBody>
                    <a:bodyPr/>
                    <a:lstStyle/>
                    <a:p>
                      <a:pPr>
                        <a:buNone/>
                      </a:pPr>
                      <a:r>
                        <a:rPr lang="en-US" b="1"/>
                        <a:t>Data Type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RGB images with text based annotation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097633"/>
                  </a:ext>
                </a:extLst>
              </a:tr>
              <a:tr h="731520">
                <a:tc>
                  <a:txBody>
                    <a:bodyPr/>
                    <a:lstStyle/>
                    <a:p>
                      <a:pPr>
                        <a:buNone/>
                      </a:pPr>
                      <a:r>
                        <a:rPr lang="en-US" b="1"/>
                        <a:t>Dataset Split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1,779 pedestrian images filtered from 7,481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6408583"/>
                  </a:ext>
                </a:extLst>
              </a:tr>
            </a:tbl>
          </a:graphicData>
        </a:graphic>
      </p:graphicFrame>
      <p:sp>
        <p:nvSpPr>
          <p:cNvPr id="4" name="TextBox 3">
            <a:extLst>
              <a:ext uri="{FF2B5EF4-FFF2-40B4-BE49-F238E27FC236}">
                <a16:creationId xmlns:a16="http://schemas.microsoft.com/office/drawing/2014/main" id="{978F978A-127E-7EA2-0027-3ABE85BF9DF6}"/>
              </a:ext>
            </a:extLst>
          </p:cNvPr>
          <p:cNvSpPr txBox="1"/>
          <p:nvPr/>
        </p:nvSpPr>
        <p:spPr>
          <a:xfrm>
            <a:off x="2617365" y="5586636"/>
            <a:ext cx="8239429" cy="369332"/>
          </a:xfrm>
          <a:prstGeom prst="rect">
            <a:avLst/>
          </a:prstGeom>
          <a:noFill/>
        </p:spPr>
        <p:txBody>
          <a:bodyPr wrap="square" rtlCol="0">
            <a:spAutoFit/>
          </a:bodyPr>
          <a:lstStyle/>
          <a:p>
            <a:r>
              <a:rPr lang="en-US" dirty="0"/>
              <a:t>Dataset Source : https://www.kaggle.com/datasets/klemenko/kitti-dataset</a:t>
            </a:r>
          </a:p>
        </p:txBody>
      </p:sp>
    </p:spTree>
    <p:extLst>
      <p:ext uri="{BB962C8B-B14F-4D97-AF65-F5344CB8AC3E}">
        <p14:creationId xmlns:p14="http://schemas.microsoft.com/office/powerpoint/2010/main" val="147605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2075-F413-5EE0-26A8-28D787B7A3D9}"/>
              </a:ext>
            </a:extLst>
          </p:cNvPr>
          <p:cNvSpPr>
            <a:spLocks noGrp="1"/>
          </p:cNvSpPr>
          <p:nvPr>
            <p:ph type="title"/>
          </p:nvPr>
        </p:nvSpPr>
        <p:spPr>
          <a:xfrm>
            <a:off x="3460565" y="284481"/>
            <a:ext cx="7965461" cy="994164"/>
          </a:xfrm>
        </p:spPr>
        <p:txBody>
          <a:bodyPr/>
          <a:lstStyle/>
          <a:p>
            <a:br>
              <a:rPr lang="en-US" sz="2800" dirty="0"/>
            </a:br>
            <a:r>
              <a:rPr lang="en-US" sz="2800" dirty="0"/>
              <a:t>Existing Systems</a:t>
            </a:r>
            <a:br>
              <a:rPr lang="en-US" dirty="0"/>
            </a:br>
            <a:endParaRPr lang="en-US" dirty="0"/>
          </a:p>
        </p:txBody>
      </p:sp>
      <p:sp>
        <p:nvSpPr>
          <p:cNvPr id="3" name="Content Placeholder 2">
            <a:extLst>
              <a:ext uri="{FF2B5EF4-FFF2-40B4-BE49-F238E27FC236}">
                <a16:creationId xmlns:a16="http://schemas.microsoft.com/office/drawing/2014/main" id="{59FDC476-021B-753B-2700-E7CECAB0BEE5}"/>
              </a:ext>
            </a:extLst>
          </p:cNvPr>
          <p:cNvSpPr>
            <a:spLocks noGrp="1"/>
          </p:cNvSpPr>
          <p:nvPr>
            <p:ph sz="half" idx="2"/>
          </p:nvPr>
        </p:nvSpPr>
        <p:spPr>
          <a:xfrm>
            <a:off x="3460565" y="1044834"/>
            <a:ext cx="8507914" cy="4768331"/>
          </a:xfrm>
        </p:spPr>
        <p:txBody>
          <a:bodyPr>
            <a:normAutofit lnSpcReduction="10000"/>
          </a:bodyPr>
          <a:lstStyle/>
          <a:p>
            <a:pPr marL="0" indent="0">
              <a:buNone/>
            </a:pPr>
            <a:r>
              <a:rPr lang="en-US" b="1" dirty="0"/>
              <a:t>Traditional Methods (HOG + SVM, Haar Cascades)</a:t>
            </a:r>
          </a:p>
          <a:p>
            <a:pPr algn="just"/>
            <a:r>
              <a:rPr lang="en-US" dirty="0"/>
              <a:t>Used handcrafted features.</a:t>
            </a:r>
          </a:p>
          <a:p>
            <a:pPr algn="just"/>
            <a:r>
              <a:rPr lang="en-US" dirty="0"/>
              <a:t>Limited accuracy in complex environments.</a:t>
            </a:r>
          </a:p>
          <a:p>
            <a:pPr algn="just"/>
            <a:r>
              <a:rPr lang="en-US" dirty="0"/>
              <a:t>Sensitive to lighting and occlusion.</a:t>
            </a:r>
          </a:p>
          <a:p>
            <a:pPr marL="0" indent="0">
              <a:buNone/>
            </a:pPr>
            <a:r>
              <a:rPr lang="en-US" b="1" dirty="0"/>
              <a:t>Classical Machine Learning Approaches</a:t>
            </a:r>
            <a:endParaRPr lang="en-US" dirty="0"/>
          </a:p>
          <a:p>
            <a:r>
              <a:rPr lang="en-US" dirty="0"/>
              <a:t>Improved classification using engineered features.</a:t>
            </a:r>
          </a:p>
          <a:p>
            <a:r>
              <a:rPr lang="en-US" dirty="0"/>
              <a:t>Poor generalization in dynamic scenes.</a:t>
            </a:r>
          </a:p>
          <a:p>
            <a:r>
              <a:rPr lang="en-US" dirty="0"/>
              <a:t>Not reliable for high-resolution real-time video.</a:t>
            </a:r>
          </a:p>
          <a:p>
            <a:pPr marL="0" indent="0">
              <a:buNone/>
            </a:pPr>
            <a:r>
              <a:rPr lang="en-US" b="1" dirty="0"/>
              <a:t>Deep Learning-Based Systems (R-CNN, SSD, YOLO)</a:t>
            </a:r>
            <a:endParaRPr lang="en-US" dirty="0"/>
          </a:p>
          <a:p>
            <a:r>
              <a:rPr lang="en-US" dirty="0"/>
              <a:t>Higher accuracy using CNNs.</a:t>
            </a:r>
          </a:p>
          <a:p>
            <a:r>
              <a:rPr lang="en-US" dirty="0"/>
              <a:t>Suitable for complex scenes.</a:t>
            </a:r>
          </a:p>
          <a:p>
            <a:r>
              <a:rPr lang="en-US" dirty="0"/>
              <a:t>Require GPU for real-time performance.</a:t>
            </a:r>
          </a:p>
          <a:p>
            <a:r>
              <a:rPr lang="en-US" dirty="0"/>
              <a:t>Focus mainly on accuracy, not deployment efficiency.</a:t>
            </a:r>
          </a:p>
          <a:p>
            <a:pPr marL="0" indent="0">
              <a:buNone/>
            </a:pPr>
            <a:endParaRPr lang="en-US" dirty="0"/>
          </a:p>
          <a:p>
            <a:pPr marL="0" indent="0" algn="just">
              <a:buNone/>
            </a:pPr>
            <a:endParaRPr lang="en-US" dirty="0"/>
          </a:p>
          <a:p>
            <a:pPr algn="ctr"/>
            <a:endParaRPr lang="en-US" dirty="0"/>
          </a:p>
          <a:p>
            <a:pPr marL="0" indent="0">
              <a:buNone/>
            </a:pPr>
            <a:endParaRPr lang="en-US" dirty="0"/>
          </a:p>
          <a:p>
            <a:pPr marL="0" indent="0">
              <a:buNone/>
            </a:pPr>
            <a:endParaRPr lang="en-US" b="1" dirty="0"/>
          </a:p>
          <a:p>
            <a:endParaRPr lang="en-US" b="1" dirty="0"/>
          </a:p>
          <a:p>
            <a:endParaRPr lang="en-US" dirty="0"/>
          </a:p>
          <a:p>
            <a:endParaRPr lang="en-US" dirty="0"/>
          </a:p>
        </p:txBody>
      </p:sp>
      <p:sp>
        <p:nvSpPr>
          <p:cNvPr id="4" name="Slide Number Placeholder 3">
            <a:extLst>
              <a:ext uri="{FF2B5EF4-FFF2-40B4-BE49-F238E27FC236}">
                <a16:creationId xmlns:a16="http://schemas.microsoft.com/office/drawing/2014/main" id="{37D7E8AF-F933-F10F-20A8-8D2F05C5E64D}"/>
              </a:ext>
            </a:extLst>
          </p:cNvPr>
          <p:cNvSpPr>
            <a:spLocks noGrp="1"/>
          </p:cNvSpPr>
          <p:nvPr>
            <p:ph type="sldNum" sz="quarter" idx="10"/>
          </p:nvPr>
        </p:nvSpPr>
        <p:spPr>
          <a:xfrm flipH="1">
            <a:off x="11426026" y="457199"/>
            <a:ext cx="542454" cy="471489"/>
          </a:xfrm>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200575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9AF20-5A49-728A-DE28-C408E3F83C83}"/>
              </a:ext>
            </a:extLst>
          </p:cNvPr>
          <p:cNvSpPr>
            <a:spLocks noGrp="1"/>
          </p:cNvSpPr>
          <p:nvPr>
            <p:ph type="title"/>
          </p:nvPr>
        </p:nvSpPr>
        <p:spPr>
          <a:xfrm>
            <a:off x="3460565" y="1382252"/>
            <a:ext cx="7965461" cy="994164"/>
          </a:xfrm>
        </p:spPr>
        <p:txBody>
          <a:bodyPr/>
          <a:lstStyle/>
          <a:p>
            <a:r>
              <a:rPr lang="en-US" dirty="0"/>
              <a:t>Limitations of existing systems</a:t>
            </a:r>
          </a:p>
        </p:txBody>
      </p:sp>
      <p:sp>
        <p:nvSpPr>
          <p:cNvPr id="4" name="Slide Number Placeholder 3">
            <a:extLst>
              <a:ext uri="{FF2B5EF4-FFF2-40B4-BE49-F238E27FC236}">
                <a16:creationId xmlns:a16="http://schemas.microsoft.com/office/drawing/2014/main" id="{948D2999-C150-F5DA-B884-98691FD02FD4}"/>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
        <p:nvSpPr>
          <p:cNvPr id="5" name="Rectangle 1">
            <a:extLst>
              <a:ext uri="{FF2B5EF4-FFF2-40B4-BE49-F238E27FC236}">
                <a16:creationId xmlns:a16="http://schemas.microsoft.com/office/drawing/2014/main" id="{155EFBA6-B0FB-4CF2-D598-E029D83E39B1}"/>
              </a:ext>
            </a:extLst>
          </p:cNvPr>
          <p:cNvSpPr>
            <a:spLocks noGrp="1" noChangeArrowheads="1"/>
          </p:cNvSpPr>
          <p:nvPr>
            <p:ph sz="half" idx="2"/>
          </p:nvPr>
        </p:nvSpPr>
        <p:spPr bwMode="auto">
          <a:xfrm>
            <a:off x="3460565" y="2873655"/>
            <a:ext cx="873143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Depend heavily on </a:t>
            </a:r>
            <a:r>
              <a:rPr kumimoji="0" lang="en-US" altLang="en-US" sz="1800" b="1" i="0" u="none" strike="noStrike" cap="none" normalizeH="0" baseline="0" dirty="0">
                <a:ln>
                  <a:noFill/>
                </a:ln>
                <a:effectLst/>
              </a:rPr>
              <a:t>GPU hardware</a:t>
            </a:r>
            <a:r>
              <a:rPr kumimoji="0" lang="en-US" altLang="en-US" sz="1800" b="0" i="0" u="none" strike="noStrike" cap="none" normalizeH="0" baseline="0" dirty="0">
                <a:ln>
                  <a:noFill/>
                </a:ln>
                <a:effectLst/>
              </a:rPr>
              <a:t> for real-time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High </a:t>
            </a:r>
            <a:r>
              <a:rPr kumimoji="0" lang="en-US" altLang="en-US" sz="1800" b="1" i="0" u="none" strike="noStrike" cap="none" normalizeH="0" baseline="0" dirty="0">
                <a:ln>
                  <a:noFill/>
                </a:ln>
                <a:effectLst/>
              </a:rPr>
              <a:t>computational and power requirements</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Limited </a:t>
            </a:r>
            <a:r>
              <a:rPr kumimoji="0" lang="en-US" altLang="en-US" sz="1800" b="1" i="0" u="none" strike="noStrike" cap="none" normalizeH="0" baseline="0" dirty="0">
                <a:ln>
                  <a:noFill/>
                </a:ln>
                <a:effectLst/>
              </a:rPr>
              <a:t>CPU-based optimization</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Poor performance in </a:t>
            </a:r>
            <a:r>
              <a:rPr kumimoji="0" lang="en-US" altLang="en-US" sz="1800" b="1" i="0" u="none" strike="noStrike" cap="none" normalizeH="0" baseline="0" dirty="0">
                <a:ln>
                  <a:noFill/>
                </a:ln>
                <a:effectLst/>
              </a:rPr>
              <a:t>occlusion and complex backgrounds</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Sensitive to </a:t>
            </a:r>
            <a:r>
              <a:rPr kumimoji="0" lang="en-US" altLang="en-US" sz="1800" b="1" i="0" u="none" strike="noStrike" cap="none" normalizeH="0" baseline="0" dirty="0">
                <a:ln>
                  <a:noFill/>
                </a:ln>
                <a:effectLst/>
              </a:rPr>
              <a:t>lighting and environmental variations</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Many models focus on </a:t>
            </a:r>
            <a:r>
              <a:rPr kumimoji="0" lang="en-US" altLang="en-US" sz="1800" b="1" i="0" u="none" strike="noStrike" cap="none" normalizeH="0" baseline="0" dirty="0">
                <a:ln>
                  <a:noFill/>
                </a:ln>
                <a:effectLst/>
              </a:rPr>
              <a:t>accuracy over deployment efficiency</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Not fully suitable for </a:t>
            </a:r>
            <a:r>
              <a:rPr kumimoji="0" lang="en-US" altLang="en-US" sz="1800" b="1" i="0" u="none" strike="noStrike" cap="none" normalizeH="0" baseline="0" dirty="0">
                <a:ln>
                  <a:noFill/>
                </a:ln>
                <a:effectLst/>
              </a:rPr>
              <a:t>edge or resource-constrained devices</a:t>
            </a:r>
            <a:endParaRPr kumimoji="0" lang="en-US" altLang="en-US" sz="1800" b="0" i="0" u="none" strike="noStrike" cap="none" normalizeH="0" baseline="0" dirty="0">
              <a:ln>
                <a:noFill/>
              </a:ln>
              <a:effectLst/>
            </a:endParaRPr>
          </a:p>
        </p:txBody>
      </p:sp>
    </p:spTree>
    <p:extLst>
      <p:ext uri="{BB962C8B-B14F-4D97-AF65-F5344CB8AC3E}">
        <p14:creationId xmlns:p14="http://schemas.microsoft.com/office/powerpoint/2010/main" val="3632667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264816" y="-1179189"/>
            <a:ext cx="7942579" cy="2727709"/>
          </a:xfrm>
        </p:spPr>
        <p:txBody>
          <a:bodyPr/>
          <a:lstStyle/>
          <a:p>
            <a:r>
              <a:rPr lang="en-US" sz="2800" dirty="0"/>
              <a:t>Proposed System</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340359" y="1753541"/>
            <a:ext cx="7051039" cy="5066234"/>
          </a:xfrm>
        </p:spPr>
        <p:txBody>
          <a:bodyPr/>
          <a:lstStyle/>
          <a:p>
            <a:pPr marL="342900" indent="-342900">
              <a:buFont typeface="Arial" panose="020B0604020202020204" pitchFamily="34" charset="0"/>
              <a:buChar char="•"/>
            </a:pPr>
            <a:r>
              <a:rPr lang="en-US" sz="1800" dirty="0"/>
              <a:t>Uses </a:t>
            </a:r>
            <a:r>
              <a:rPr lang="en-US" sz="1800" b="1" dirty="0"/>
              <a:t>YOLOv8</a:t>
            </a:r>
            <a:r>
              <a:rPr lang="en-US" sz="1800" dirty="0"/>
              <a:t> for accurate pedestrian detection</a:t>
            </a:r>
          </a:p>
          <a:p>
            <a:pPr marL="342900" indent="-342900">
              <a:buFont typeface="Arial" panose="020B0604020202020204" pitchFamily="34" charset="0"/>
              <a:buChar char="•"/>
            </a:pPr>
            <a:r>
              <a:rPr lang="en-US" sz="1800" dirty="0"/>
              <a:t>Trained on </a:t>
            </a:r>
            <a:r>
              <a:rPr lang="en-US" sz="1800" b="1" dirty="0"/>
              <a:t>KITTI dataset</a:t>
            </a:r>
            <a:r>
              <a:rPr lang="en-US" sz="1800" dirty="0"/>
              <a:t> for real-world road scenarios</a:t>
            </a:r>
          </a:p>
          <a:p>
            <a:pPr marL="342900" indent="-342900">
              <a:buFont typeface="Arial" panose="020B0604020202020204" pitchFamily="34" charset="0"/>
              <a:buChar char="•"/>
            </a:pPr>
            <a:r>
              <a:rPr lang="en-US" sz="1800" dirty="0"/>
              <a:t>Evaluated using </a:t>
            </a:r>
            <a:r>
              <a:rPr lang="en-US" sz="1800" b="1" dirty="0"/>
              <a:t>Precision, Recall, </a:t>
            </a:r>
            <a:r>
              <a:rPr lang="en-US" sz="1800" b="1" dirty="0" err="1"/>
              <a:t>mAP</a:t>
            </a:r>
            <a:r>
              <a:rPr lang="en-US" sz="1800" b="1" dirty="0"/>
              <a:t>, and FPS</a:t>
            </a:r>
          </a:p>
          <a:p>
            <a:pPr marL="342900" indent="-342900">
              <a:buFont typeface="Arial" panose="020B0604020202020204" pitchFamily="34" charset="0"/>
              <a:buChar char="•"/>
            </a:pPr>
            <a:r>
              <a:rPr lang="en-US" sz="1800" dirty="0"/>
              <a:t>Model exported to </a:t>
            </a:r>
            <a:r>
              <a:rPr lang="en-US" sz="1800" b="1" dirty="0"/>
              <a:t>ONNX format</a:t>
            </a:r>
          </a:p>
          <a:p>
            <a:pPr marL="342900" indent="-342900">
              <a:buFont typeface="Arial" panose="020B0604020202020204" pitchFamily="34" charset="0"/>
              <a:buChar char="•"/>
            </a:pPr>
            <a:r>
              <a:rPr lang="en-US" sz="1800" dirty="0"/>
              <a:t>Optimized using </a:t>
            </a:r>
            <a:r>
              <a:rPr lang="en-US" sz="1800" b="1" dirty="0" err="1"/>
              <a:t>OpenVINO</a:t>
            </a:r>
            <a:r>
              <a:rPr lang="en-US" sz="1800" dirty="0"/>
              <a:t> for CPU-based inference</a:t>
            </a:r>
          </a:p>
          <a:p>
            <a:pPr marL="342900" indent="-342900">
              <a:buFont typeface="Arial" panose="020B0604020202020204" pitchFamily="34" charset="0"/>
              <a:buChar char="•"/>
            </a:pPr>
            <a:r>
              <a:rPr lang="en-US" sz="1800" dirty="0"/>
              <a:t>Achieves </a:t>
            </a:r>
            <a:r>
              <a:rPr lang="en-US" sz="1800" b="1" dirty="0"/>
              <a:t>real-time performance without GPU dependency</a:t>
            </a:r>
          </a:p>
          <a:p>
            <a:pPr marL="342900" indent="-342900">
              <a:buFont typeface="Arial" panose="020B0604020202020204" pitchFamily="34" charset="0"/>
              <a:buChar char="•"/>
            </a:pPr>
            <a:r>
              <a:rPr lang="en-US" sz="1800" dirty="0"/>
              <a:t>Structured pipeline from training to deployment</a:t>
            </a:r>
          </a:p>
          <a:p>
            <a:pPr marL="342900" indent="-342900">
              <a:buFont typeface="Arial" panose="020B0604020202020204" pitchFamily="34" charset="0"/>
              <a:buChar char="•"/>
            </a:pPr>
            <a:r>
              <a:rPr lang="en-US" sz="1800" dirty="0"/>
              <a:t>Suitable for </a:t>
            </a:r>
            <a:r>
              <a:rPr lang="en-US" sz="1800" b="1" dirty="0"/>
              <a:t>edge AI and resource-constrained environments</a:t>
            </a:r>
          </a:p>
          <a:p>
            <a:pPr marL="342900" indent="-342900">
              <a:buFont typeface="Arial" panose="020B0604020202020204" pitchFamily="34" charset="0"/>
              <a:buChar char="•"/>
            </a:pPr>
            <a:endParaRPr lang="en-US" sz="1800" dirty="0"/>
          </a:p>
          <a:p>
            <a:endParaRPr lang="en-US" dirty="0"/>
          </a:p>
        </p:txBody>
      </p:sp>
    </p:spTree>
    <p:extLst>
      <p:ext uri="{BB962C8B-B14F-4D97-AF65-F5344CB8AC3E}">
        <p14:creationId xmlns:p14="http://schemas.microsoft.com/office/powerpoint/2010/main" val="1973173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4BD8-9ADE-BF0D-CF2C-242AE40F5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0A175-8763-7BE4-62BF-CECDFAD63600}"/>
              </a:ext>
            </a:extLst>
          </p:cNvPr>
          <p:cNvSpPr>
            <a:spLocks noGrp="1"/>
          </p:cNvSpPr>
          <p:nvPr>
            <p:ph type="ctrTitle"/>
          </p:nvPr>
        </p:nvSpPr>
        <p:spPr>
          <a:xfrm>
            <a:off x="172537" y="-1984532"/>
            <a:ext cx="7942579" cy="2727709"/>
          </a:xfrm>
        </p:spPr>
        <p:txBody>
          <a:bodyPr/>
          <a:lstStyle/>
          <a:p>
            <a:r>
              <a:rPr lang="en-US" sz="2800" dirty="0"/>
              <a:t>technologies USED</a:t>
            </a:r>
          </a:p>
        </p:txBody>
      </p:sp>
      <p:sp>
        <p:nvSpPr>
          <p:cNvPr id="3" name="Subtitle 2">
            <a:extLst>
              <a:ext uri="{FF2B5EF4-FFF2-40B4-BE49-F238E27FC236}">
                <a16:creationId xmlns:a16="http://schemas.microsoft.com/office/drawing/2014/main" id="{8833085C-4008-FE6A-29CA-2771955F4DB5}"/>
              </a:ext>
            </a:extLst>
          </p:cNvPr>
          <p:cNvSpPr>
            <a:spLocks noGrp="1"/>
          </p:cNvSpPr>
          <p:nvPr>
            <p:ph type="subTitle" idx="1"/>
          </p:nvPr>
        </p:nvSpPr>
        <p:spPr>
          <a:xfrm>
            <a:off x="264858" y="998532"/>
            <a:ext cx="7051039" cy="5066234"/>
          </a:xfrm>
        </p:spPr>
        <p:txBody>
          <a:bodyPr>
            <a:normAutofit lnSpcReduction="10000"/>
          </a:bodyPr>
          <a:lstStyle/>
          <a:p>
            <a:pPr marL="285750" indent="-285750">
              <a:buFont typeface="Arial" panose="020B0604020202020204" pitchFamily="34" charset="0"/>
              <a:buChar char="•"/>
            </a:pPr>
            <a:r>
              <a:rPr lang="en-US" sz="1800" b="1" dirty="0"/>
              <a:t>Python 3.10</a:t>
            </a:r>
            <a:r>
              <a:rPr lang="en-US" sz="1800" dirty="0"/>
              <a:t> — Core language for model inference and system integration</a:t>
            </a:r>
          </a:p>
          <a:p>
            <a:pPr marL="285750" indent="-285750">
              <a:buFont typeface="Arial" panose="020B0604020202020204" pitchFamily="34" charset="0"/>
              <a:buChar char="•"/>
            </a:pPr>
            <a:r>
              <a:rPr lang="en-US" sz="1800" b="1" dirty="0"/>
              <a:t>Flask</a:t>
            </a:r>
            <a:r>
              <a:rPr lang="en-US" sz="1800" dirty="0"/>
              <a:t> — Backend API endpoints and web server</a:t>
            </a:r>
          </a:p>
          <a:p>
            <a:pPr marL="285750" indent="-285750">
              <a:buFont typeface="Arial" panose="020B0604020202020204" pitchFamily="34" charset="0"/>
              <a:buChar char="•"/>
            </a:pPr>
            <a:r>
              <a:rPr lang="en-US" sz="1800" b="1" dirty="0"/>
              <a:t>NumPy</a:t>
            </a:r>
            <a:r>
              <a:rPr lang="en-US" sz="1800" dirty="0"/>
              <a:t> — Array operations and tensor preprocessing</a:t>
            </a:r>
          </a:p>
          <a:p>
            <a:pPr marL="285750" indent="-285750">
              <a:buFont typeface="Arial" panose="020B0604020202020204" pitchFamily="34" charset="0"/>
              <a:buChar char="•"/>
            </a:pPr>
            <a:r>
              <a:rPr lang="en-US" sz="1800" b="1" dirty="0" err="1"/>
              <a:t>PyTorch</a:t>
            </a:r>
            <a:r>
              <a:rPr lang="en-US" sz="1800" dirty="0"/>
              <a:t> — Model training with CUDA on Tesla T4 GPU</a:t>
            </a:r>
          </a:p>
          <a:p>
            <a:pPr marL="285750" indent="-285750">
              <a:buFont typeface="Arial" panose="020B0604020202020204" pitchFamily="34" charset="0"/>
              <a:buChar char="•"/>
            </a:pPr>
            <a:r>
              <a:rPr lang="en-US" sz="1800" b="1" dirty="0"/>
              <a:t>YOLOv8s (</a:t>
            </a:r>
            <a:r>
              <a:rPr lang="en-US" sz="1800" b="1" dirty="0" err="1"/>
              <a:t>Ultralytics</a:t>
            </a:r>
            <a:r>
              <a:rPr lang="en-US" sz="1800" b="1" dirty="0"/>
              <a:t>)</a:t>
            </a:r>
            <a:r>
              <a:rPr lang="en-US" sz="1800" dirty="0"/>
              <a:t> — Pedestrian detection model, 11.2M parameters</a:t>
            </a:r>
          </a:p>
          <a:p>
            <a:pPr marL="285750" indent="-285750">
              <a:buFont typeface="Arial" panose="020B0604020202020204" pitchFamily="34" charset="0"/>
              <a:buChar char="•"/>
            </a:pPr>
            <a:r>
              <a:rPr lang="en-US" sz="1800" b="1" dirty="0"/>
              <a:t>Google </a:t>
            </a:r>
            <a:r>
              <a:rPr lang="en-US" sz="1800" b="1" dirty="0" err="1"/>
              <a:t>Colab</a:t>
            </a:r>
            <a:r>
              <a:rPr lang="en-US" sz="1800" dirty="0"/>
              <a:t> — Cloud GPU training environment</a:t>
            </a:r>
            <a:endParaRPr lang="en-US" sz="2300" dirty="0"/>
          </a:p>
          <a:p>
            <a:pPr marL="285750" indent="-285750">
              <a:buFont typeface="Arial" panose="020B0604020202020204" pitchFamily="34" charset="0"/>
              <a:buChar char="•"/>
            </a:pPr>
            <a:r>
              <a:rPr lang="en-US" sz="1800" b="1" dirty="0"/>
              <a:t>Intel </a:t>
            </a:r>
            <a:r>
              <a:rPr lang="en-US" sz="1800" b="1" dirty="0" err="1"/>
              <a:t>OpenVINO</a:t>
            </a:r>
            <a:r>
              <a:rPr lang="en-US" sz="1800" dirty="0"/>
              <a:t> — INT8 quantization, 2.24x CPU speedup</a:t>
            </a:r>
          </a:p>
          <a:p>
            <a:pPr marL="285750" indent="-285750">
              <a:buFont typeface="Arial" panose="020B0604020202020204" pitchFamily="34" charset="0"/>
              <a:buChar char="•"/>
            </a:pPr>
            <a:r>
              <a:rPr lang="en-US" sz="1800" b="1" dirty="0"/>
              <a:t>NNCF</a:t>
            </a:r>
            <a:r>
              <a:rPr lang="en-US" sz="1800" dirty="0"/>
              <a:t> — Calibration during INT8 quantization</a:t>
            </a:r>
            <a:endParaRPr lang="en-US" sz="2600" dirty="0"/>
          </a:p>
          <a:p>
            <a:pPr marL="285750" indent="-285750">
              <a:buFont typeface="Arial" panose="020B0604020202020204" pitchFamily="34" charset="0"/>
              <a:buChar char="•"/>
            </a:pPr>
            <a:r>
              <a:rPr lang="en-US" sz="1800" b="1" dirty="0"/>
              <a:t>OpenCV</a:t>
            </a:r>
            <a:r>
              <a:rPr lang="en-US" sz="1800" dirty="0"/>
              <a:t> — Frame extraction, bounding box drawing, preprocessing</a:t>
            </a:r>
          </a:p>
          <a:p>
            <a:pPr marL="285750" indent="-285750">
              <a:buFont typeface="Arial" panose="020B0604020202020204" pitchFamily="34" charset="0"/>
              <a:buChar char="•"/>
            </a:pPr>
            <a:r>
              <a:rPr lang="en-US" sz="1800" b="1" dirty="0"/>
              <a:t>HTML5 / CSS3</a:t>
            </a:r>
            <a:r>
              <a:rPr lang="en-US" sz="1800" dirty="0"/>
              <a:t> — Dark themed responsive web interface</a:t>
            </a:r>
          </a:p>
          <a:p>
            <a:pPr marL="285750" indent="-285750">
              <a:buFont typeface="Arial" panose="020B0604020202020204" pitchFamily="34" charset="0"/>
              <a:buChar char="•"/>
            </a:pPr>
            <a:r>
              <a:rPr lang="en-US" sz="1800" b="1" dirty="0"/>
              <a:t>JavaScript</a:t>
            </a:r>
            <a:r>
              <a:rPr lang="en-US" sz="1800" dirty="0"/>
              <a:t> — Image/video upload and dynamic result rendering</a:t>
            </a:r>
          </a:p>
          <a:p>
            <a:pPr marL="285750" indent="-285750">
              <a:buFont typeface="Arial" panose="020B0604020202020204" pitchFamily="34" charset="0"/>
              <a:buChar char="•"/>
            </a:pPr>
            <a:r>
              <a:rPr lang="en-US" sz="1800" b="1" dirty="0"/>
              <a:t>Anaconda</a:t>
            </a:r>
            <a:r>
              <a:rPr lang="en-US" sz="1800" dirty="0"/>
              <a:t> — Conda environment management</a:t>
            </a:r>
          </a:p>
          <a:p>
            <a:pPr marL="285750" indent="-285750">
              <a:buFont typeface="Arial" panose="020B0604020202020204" pitchFamily="34" charset="0"/>
              <a:buChar char="•"/>
            </a:pPr>
            <a:r>
              <a:rPr lang="en-US" sz="1800" b="1" dirty="0"/>
              <a:t>KITTI Dataset</a:t>
            </a:r>
            <a:r>
              <a:rPr lang="en-US" sz="1800" dirty="0"/>
              <a:t> — 1,779 pedestrian images for training and validation</a:t>
            </a:r>
          </a:p>
          <a:p>
            <a:pPr marL="342900" indent="-342900">
              <a:buFont typeface="Arial" panose="020B0604020202020204" pitchFamily="34" charset="0"/>
              <a:buChar char="•"/>
            </a:pPr>
            <a:endParaRPr lang="en-US" sz="1800" dirty="0"/>
          </a:p>
          <a:p>
            <a:endParaRPr lang="en-US" dirty="0"/>
          </a:p>
        </p:txBody>
      </p:sp>
    </p:spTree>
    <p:extLst>
      <p:ext uri="{BB962C8B-B14F-4D97-AF65-F5344CB8AC3E}">
        <p14:creationId xmlns:p14="http://schemas.microsoft.com/office/powerpoint/2010/main" val="1193648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36A3AC-C457-8E26-7EDF-168542FF9139}"/>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3" name="Rectangle 2">
            <a:extLst>
              <a:ext uri="{FF2B5EF4-FFF2-40B4-BE49-F238E27FC236}">
                <a16:creationId xmlns:a16="http://schemas.microsoft.com/office/drawing/2014/main" id="{591BA9A5-3E8B-0EE4-9D8D-FF46DDDDD6A4}"/>
              </a:ext>
            </a:extLst>
          </p:cNvPr>
          <p:cNvSpPr/>
          <p:nvPr/>
        </p:nvSpPr>
        <p:spPr>
          <a:xfrm>
            <a:off x="990600" y="2164080"/>
            <a:ext cx="3865880" cy="18999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800" b="1" dirty="0"/>
          </a:p>
          <a:p>
            <a:pPr algn="ctr"/>
            <a:r>
              <a:rPr lang="en-US" dirty="0"/>
              <a:t>PROPOSED SYSTEM WORK FLOW DIAGRAM</a:t>
            </a:r>
          </a:p>
        </p:txBody>
      </p:sp>
      <p:graphicFrame>
        <p:nvGraphicFramePr>
          <p:cNvPr id="5" name="Diagram 4">
            <a:extLst>
              <a:ext uri="{FF2B5EF4-FFF2-40B4-BE49-F238E27FC236}">
                <a16:creationId xmlns:a16="http://schemas.microsoft.com/office/drawing/2014/main" id="{B2E20A7F-D4C1-A3F8-E9C6-1BE335C719FF}"/>
              </a:ext>
            </a:extLst>
          </p:cNvPr>
          <p:cNvGraphicFramePr/>
          <p:nvPr>
            <p:extLst>
              <p:ext uri="{D42A27DB-BD31-4B8C-83A1-F6EECF244321}">
                <p14:modId xmlns:p14="http://schemas.microsoft.com/office/powerpoint/2010/main" val="796731422"/>
              </p:ext>
            </p:extLst>
          </p:nvPr>
        </p:nvGraphicFramePr>
        <p:xfrm>
          <a:off x="2839720" y="2164080"/>
          <a:ext cx="7874000" cy="38726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8830084D-950D-8435-FF88-61D6327DBC50}"/>
              </a:ext>
            </a:extLst>
          </p:cNvPr>
          <p:cNvPicPr>
            <a:picLocks noChangeAspect="1"/>
          </p:cNvPicPr>
          <p:nvPr/>
        </p:nvPicPr>
        <p:blipFill>
          <a:blip r:embed="rId7"/>
          <a:stretch>
            <a:fillRect/>
          </a:stretch>
        </p:blipFill>
        <p:spPr>
          <a:xfrm>
            <a:off x="7136293" y="0"/>
            <a:ext cx="5055707" cy="6858000"/>
          </a:xfrm>
          <a:prstGeom prst="rect">
            <a:avLst/>
          </a:prstGeom>
        </p:spPr>
      </p:pic>
    </p:spTree>
    <p:extLst>
      <p:ext uri="{BB962C8B-B14F-4D97-AF65-F5344CB8AC3E}">
        <p14:creationId xmlns:p14="http://schemas.microsoft.com/office/powerpoint/2010/main" val="3552303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8C5A0F-D450-C538-8F47-56EE2F185FD6}"/>
              </a:ext>
            </a:extLst>
          </p:cNvPr>
          <p:cNvSpPr>
            <a:spLocks noGrp="1"/>
          </p:cNvSpPr>
          <p:nvPr>
            <p:ph type="sldNum" sz="quarter" idx="12"/>
          </p:nvPr>
        </p:nvSpPr>
        <p:spPr/>
        <p:txBody>
          <a:bodyPr/>
          <a:lstStyle/>
          <a:p>
            <a:fld id="{48F63A3B-78C7-47BE-AE5E-E10140E04643}" type="slidenum">
              <a:rPr lang="en-US" smtClean="0"/>
              <a:pPr/>
              <a:t>9</a:t>
            </a:fld>
            <a:endParaRPr lang="en-US" dirty="0"/>
          </a:p>
        </p:txBody>
      </p:sp>
      <p:pic>
        <p:nvPicPr>
          <p:cNvPr id="4" name="Picture 3">
            <a:extLst>
              <a:ext uri="{FF2B5EF4-FFF2-40B4-BE49-F238E27FC236}">
                <a16:creationId xmlns:a16="http://schemas.microsoft.com/office/drawing/2014/main" id="{FE162AAB-0297-C671-549D-F6C03BE221BB}"/>
              </a:ext>
            </a:extLst>
          </p:cNvPr>
          <p:cNvPicPr>
            <a:picLocks noChangeAspect="1"/>
          </p:cNvPicPr>
          <p:nvPr/>
        </p:nvPicPr>
        <p:blipFill>
          <a:blip r:embed="rId2"/>
          <a:stretch>
            <a:fillRect/>
          </a:stretch>
        </p:blipFill>
        <p:spPr>
          <a:xfrm>
            <a:off x="7294880" y="0"/>
            <a:ext cx="4897121" cy="6858000"/>
          </a:xfrm>
          <a:prstGeom prst="rect">
            <a:avLst/>
          </a:prstGeom>
        </p:spPr>
      </p:pic>
      <p:sp>
        <p:nvSpPr>
          <p:cNvPr id="5" name="TextBox 4">
            <a:extLst>
              <a:ext uri="{FF2B5EF4-FFF2-40B4-BE49-F238E27FC236}">
                <a16:creationId xmlns:a16="http://schemas.microsoft.com/office/drawing/2014/main" id="{DB633B87-8F6F-9CD7-F10A-65BD55DFC009}"/>
              </a:ext>
            </a:extLst>
          </p:cNvPr>
          <p:cNvSpPr txBox="1"/>
          <p:nvPr/>
        </p:nvSpPr>
        <p:spPr>
          <a:xfrm>
            <a:off x="684692" y="690086"/>
            <a:ext cx="6203787" cy="5632311"/>
          </a:xfrm>
          <a:prstGeom prst="rect">
            <a:avLst/>
          </a:prstGeom>
          <a:noFill/>
        </p:spPr>
        <p:txBody>
          <a:bodyPr wrap="square" rtlCol="0">
            <a:spAutoFit/>
          </a:bodyPr>
          <a:lstStyle/>
          <a:p>
            <a:r>
              <a:rPr lang="en-US" sz="2000" b="1" dirty="0"/>
              <a:t>SYSTEM ARCHITECTURE</a:t>
            </a:r>
          </a:p>
          <a:p>
            <a:r>
              <a:rPr lang="en-US" dirty="0"/>
              <a:t>The system architecture follows a structured pipeline starting from data input to optimized real-time detection output. Initially, the KITTI dataset is loaded and preprocessed through resizing, normalization, and annotation conversion into YOLO format. The processed data is then used to train the YOLOv8 model, where hyperparameters such as epochs and batch size are configured. After training, the model is evaluated using performance metrics like Precision, Recall, and </a:t>
            </a:r>
            <a:r>
              <a:rPr lang="en-US" dirty="0" err="1"/>
              <a:t>mAP</a:t>
            </a:r>
            <a:r>
              <a:rPr lang="en-US" dirty="0"/>
              <a:t> to ensure detection accuracy.</a:t>
            </a:r>
          </a:p>
          <a:p>
            <a:r>
              <a:rPr lang="en-US" dirty="0"/>
              <a:t>Once satisfactory performance is achieved, the trained model is exported to ONNX format and converted into </a:t>
            </a:r>
            <a:r>
              <a:rPr lang="en-US" dirty="0" err="1"/>
              <a:t>OpenVINO’s</a:t>
            </a:r>
            <a:r>
              <a:rPr lang="en-US" dirty="0"/>
              <a:t> Intermediate Representation (IR) format. </a:t>
            </a:r>
            <a:r>
              <a:rPr lang="en-US" dirty="0" err="1"/>
              <a:t>OpenVINO</a:t>
            </a:r>
            <a:r>
              <a:rPr lang="en-US" dirty="0"/>
              <a:t> optimizes the model for efficient CPU-based inference. During deployment, the optimized model processes image, video, or live camera input, generates bounding boxes with confidence scores, applies Non-Maximum Suppression (NMS), and displays the final detection results along with FPS. This architecture ensures both high detection accuracy and efficient real-time CPU performance.</a:t>
            </a:r>
          </a:p>
        </p:txBody>
      </p:sp>
    </p:spTree>
    <p:extLst>
      <p:ext uri="{BB962C8B-B14F-4D97-AF65-F5344CB8AC3E}">
        <p14:creationId xmlns:p14="http://schemas.microsoft.com/office/powerpoint/2010/main" val="303692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6E8908-613C-D530-9353-A2E48A99E716}"/>
              </a:ext>
            </a:extLst>
          </p:cNvPr>
          <p:cNvSpPr>
            <a:spLocks noGrp="1"/>
          </p:cNvSpPr>
          <p:nvPr>
            <p:ph type="sldNum" sz="quarter" idx="12"/>
          </p:nvPr>
        </p:nvSpPr>
        <p:spPr/>
        <p:txBody>
          <a:bodyPr/>
          <a:lstStyle/>
          <a:p>
            <a:fld id="{48F63A3B-78C7-47BE-AE5E-E10140E04643}" type="slidenum">
              <a:rPr lang="en-US" smtClean="0"/>
              <a:pPr/>
              <a:t>10</a:t>
            </a:fld>
            <a:endParaRPr lang="en-US" dirty="0"/>
          </a:p>
        </p:txBody>
      </p:sp>
      <p:sp>
        <p:nvSpPr>
          <p:cNvPr id="8" name="TextBox 7">
            <a:extLst>
              <a:ext uri="{FF2B5EF4-FFF2-40B4-BE49-F238E27FC236}">
                <a16:creationId xmlns:a16="http://schemas.microsoft.com/office/drawing/2014/main" id="{E61FB891-E1A6-E762-4A67-4665BC2D2522}"/>
              </a:ext>
            </a:extLst>
          </p:cNvPr>
          <p:cNvSpPr txBox="1"/>
          <p:nvPr/>
        </p:nvSpPr>
        <p:spPr>
          <a:xfrm>
            <a:off x="1117600" y="272533"/>
            <a:ext cx="10149840" cy="707886"/>
          </a:xfrm>
          <a:prstGeom prst="rect">
            <a:avLst/>
          </a:prstGeom>
          <a:noFill/>
        </p:spPr>
        <p:txBody>
          <a:bodyPr wrap="square" rtlCol="0">
            <a:spAutoFit/>
          </a:bodyPr>
          <a:lstStyle/>
          <a:p>
            <a:endParaRPr lang="en-US" sz="2000" b="1" dirty="0"/>
          </a:p>
          <a:p>
            <a:endParaRPr lang="en-US" sz="2000" b="1" dirty="0"/>
          </a:p>
        </p:txBody>
      </p:sp>
      <p:sp>
        <p:nvSpPr>
          <p:cNvPr id="9" name="Rectangle 4">
            <a:extLst>
              <a:ext uri="{FF2B5EF4-FFF2-40B4-BE49-F238E27FC236}">
                <a16:creationId xmlns:a16="http://schemas.microsoft.com/office/drawing/2014/main" id="{16810648-F756-3015-A071-8EAAB72D68FE}"/>
              </a:ext>
            </a:extLst>
          </p:cNvPr>
          <p:cNvSpPr>
            <a:spLocks noChangeArrowheads="1"/>
          </p:cNvSpPr>
          <p:nvPr/>
        </p:nvSpPr>
        <p:spPr bwMode="auto">
          <a:xfrm>
            <a:off x="0" y="-323165"/>
            <a:ext cx="25346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Optimization Module</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CCDFE87-DCD5-2CBE-01E9-E725658E03CE}"/>
              </a:ext>
            </a:extLst>
          </p:cNvPr>
          <p:cNvSpPr txBox="1"/>
          <p:nvPr/>
        </p:nvSpPr>
        <p:spPr>
          <a:xfrm>
            <a:off x="924560" y="179249"/>
            <a:ext cx="10149840" cy="7540526"/>
          </a:xfrm>
          <a:prstGeom prst="rect">
            <a:avLst/>
          </a:prstGeom>
          <a:noFill/>
        </p:spPr>
        <p:txBody>
          <a:bodyPr wrap="square" rtlCol="0">
            <a:spAutoFit/>
          </a:bodyPr>
          <a:lstStyle/>
          <a:p>
            <a:r>
              <a:rPr lang="en-US" sz="2400" b="1" dirty="0"/>
              <a:t>SYSTEM MODULES</a:t>
            </a:r>
          </a:p>
          <a:p>
            <a:endParaRPr lang="en-US" sz="2400" b="1" dirty="0"/>
          </a:p>
          <a:p>
            <a:r>
              <a:rPr lang="en-US" b="1" dirty="0"/>
              <a:t>Dataset Preparation Module</a:t>
            </a:r>
            <a:br>
              <a:rPr lang="en-US" dirty="0"/>
            </a:br>
            <a:r>
              <a:rPr lang="en-US" dirty="0"/>
              <a:t>Preprocess KITTI dataset, resize images, convert annotations to YOLO format, and split data.</a:t>
            </a:r>
          </a:p>
          <a:p>
            <a:endParaRPr lang="en-US" b="1" dirty="0"/>
          </a:p>
          <a:p>
            <a:r>
              <a:rPr lang="en-US" b="1" dirty="0"/>
              <a:t>YOLOv8 Training Module</a:t>
            </a:r>
            <a:br>
              <a:rPr lang="en-US" dirty="0"/>
            </a:br>
            <a:r>
              <a:rPr lang="en-US" dirty="0"/>
              <a:t>Train and fine-tune the YOLOv8 model using selected hyperparameters.</a:t>
            </a:r>
          </a:p>
          <a:p>
            <a:endParaRPr lang="en-US" b="1" dirty="0"/>
          </a:p>
          <a:p>
            <a:r>
              <a:rPr lang="en-US" b="1" dirty="0"/>
              <a:t>Model Evaluation Module</a:t>
            </a:r>
            <a:br>
              <a:rPr lang="en-US" dirty="0"/>
            </a:br>
            <a:r>
              <a:rPr lang="en-US" dirty="0"/>
              <a:t>Evaluate performance using Precision, Recall, </a:t>
            </a:r>
            <a:r>
              <a:rPr lang="en-US" dirty="0" err="1"/>
              <a:t>mAP</a:t>
            </a:r>
            <a:r>
              <a:rPr lang="en-US" dirty="0"/>
              <a:t>, and FPS.</a:t>
            </a:r>
          </a:p>
          <a:p>
            <a:endParaRPr lang="en-US" b="1" dirty="0"/>
          </a:p>
          <a:p>
            <a:r>
              <a:rPr lang="en-US" b="1" dirty="0"/>
              <a:t>Model Conversion Module</a:t>
            </a:r>
            <a:br>
              <a:rPr lang="en-US" dirty="0"/>
            </a:br>
            <a:r>
              <a:rPr lang="en-US" dirty="0"/>
              <a:t>Export trained model to ONNX format for interoperability.</a:t>
            </a:r>
          </a:p>
          <a:p>
            <a:endParaRPr lang="en-US" b="1" dirty="0"/>
          </a:p>
          <a:p>
            <a:r>
              <a:rPr lang="en-US" b="1" dirty="0" err="1"/>
              <a:t>OpenVINO</a:t>
            </a:r>
            <a:r>
              <a:rPr lang="en-US" b="1" dirty="0"/>
              <a:t> Optimization Module</a:t>
            </a:r>
            <a:br>
              <a:rPr lang="en-US" dirty="0"/>
            </a:br>
            <a:r>
              <a:rPr lang="en-US" dirty="0"/>
              <a:t>Convert ONNX model to IR format and optimize for CPU-based inference.</a:t>
            </a:r>
          </a:p>
          <a:p>
            <a:endParaRPr lang="en-US" b="1" dirty="0"/>
          </a:p>
          <a:p>
            <a:r>
              <a:rPr lang="en-US" b="1" dirty="0"/>
              <a:t>Inference Module</a:t>
            </a:r>
            <a:br>
              <a:rPr lang="en-US" dirty="0"/>
            </a:br>
            <a:r>
              <a:rPr lang="en-US" dirty="0"/>
              <a:t>Perform real-time pedestrian detection on image, video, or camera input.</a:t>
            </a:r>
          </a:p>
          <a:p>
            <a:endParaRPr lang="en-US" dirty="0"/>
          </a:p>
          <a:p>
            <a:r>
              <a:rPr lang="en-US" b="1" dirty="0"/>
              <a:t>Visualization Module</a:t>
            </a:r>
            <a:br>
              <a:rPr lang="en-US" dirty="0"/>
            </a:br>
            <a:r>
              <a:rPr lang="en-US" dirty="0"/>
              <a:t>Display bounding boxes, confidence scores, and FPS.</a:t>
            </a:r>
          </a:p>
          <a:p>
            <a:endParaRPr lang="en-US" dirty="0"/>
          </a:p>
          <a:p>
            <a:endParaRPr lang="en-US" dirty="0"/>
          </a:p>
          <a:p>
            <a:endParaRPr lang="en-US" sz="2000" b="1" dirty="0"/>
          </a:p>
          <a:p>
            <a:endParaRPr lang="en-US" sz="2000" b="1" dirty="0"/>
          </a:p>
        </p:txBody>
      </p:sp>
      <p:sp>
        <p:nvSpPr>
          <p:cNvPr id="11" name="Rectangle 4">
            <a:extLst>
              <a:ext uri="{FF2B5EF4-FFF2-40B4-BE49-F238E27FC236}">
                <a16:creationId xmlns:a16="http://schemas.microsoft.com/office/drawing/2014/main" id="{CC8B5432-C1DB-A014-B855-EA418545F5D4}"/>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5580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C3F3D-4FBA-FE16-10B3-B4010CB610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B8D792-BCBC-3BFC-8584-B02C7D3EA416}"/>
              </a:ext>
            </a:extLst>
          </p:cNvPr>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4" name="Picture 3">
            <a:extLst>
              <a:ext uri="{FF2B5EF4-FFF2-40B4-BE49-F238E27FC236}">
                <a16:creationId xmlns:a16="http://schemas.microsoft.com/office/drawing/2014/main" id="{7D2FAE43-027D-82DE-EE70-14E1B5D846D0}"/>
              </a:ext>
            </a:extLst>
          </p:cNvPr>
          <p:cNvPicPr>
            <a:picLocks noChangeAspect="1"/>
          </p:cNvPicPr>
          <p:nvPr/>
        </p:nvPicPr>
        <p:blipFill>
          <a:blip r:embed="rId2"/>
          <a:stretch>
            <a:fillRect/>
          </a:stretch>
        </p:blipFill>
        <p:spPr>
          <a:xfrm>
            <a:off x="0" y="1006678"/>
            <a:ext cx="12192000" cy="5851321"/>
          </a:xfrm>
          <a:prstGeom prst="rect">
            <a:avLst/>
          </a:prstGeom>
        </p:spPr>
      </p:pic>
      <p:sp>
        <p:nvSpPr>
          <p:cNvPr id="5" name="TextBox 4">
            <a:extLst>
              <a:ext uri="{FF2B5EF4-FFF2-40B4-BE49-F238E27FC236}">
                <a16:creationId xmlns:a16="http://schemas.microsoft.com/office/drawing/2014/main" id="{6E383B70-A722-8056-7608-7790468BB890}"/>
              </a:ext>
            </a:extLst>
          </p:cNvPr>
          <p:cNvSpPr txBox="1"/>
          <p:nvPr/>
        </p:nvSpPr>
        <p:spPr>
          <a:xfrm>
            <a:off x="3959604" y="318782"/>
            <a:ext cx="4454554" cy="369332"/>
          </a:xfrm>
          <a:prstGeom prst="rect">
            <a:avLst/>
          </a:prstGeom>
          <a:noFill/>
        </p:spPr>
        <p:txBody>
          <a:bodyPr wrap="square" rtlCol="0">
            <a:spAutoFit/>
          </a:bodyPr>
          <a:lstStyle/>
          <a:p>
            <a:pPr algn="ctr"/>
            <a:r>
              <a:rPr lang="en-US" b="1" dirty="0"/>
              <a:t>RESULTS</a:t>
            </a:r>
          </a:p>
        </p:txBody>
      </p:sp>
      <p:pic>
        <p:nvPicPr>
          <p:cNvPr id="6" name="Picture 5">
            <a:extLst>
              <a:ext uri="{FF2B5EF4-FFF2-40B4-BE49-F238E27FC236}">
                <a16:creationId xmlns:a16="http://schemas.microsoft.com/office/drawing/2014/main" id="{0C6796C4-341F-B3F7-FF9E-07A16AB77555}"/>
              </a:ext>
            </a:extLst>
          </p:cNvPr>
          <p:cNvPicPr>
            <a:picLocks noChangeAspect="1"/>
          </p:cNvPicPr>
          <p:nvPr/>
        </p:nvPicPr>
        <p:blipFill>
          <a:blip r:embed="rId3"/>
          <a:stretch>
            <a:fillRect/>
          </a:stretch>
        </p:blipFill>
        <p:spPr>
          <a:xfrm>
            <a:off x="0" y="993090"/>
            <a:ext cx="12192000" cy="5674410"/>
          </a:xfrm>
          <a:prstGeom prst="rect">
            <a:avLst/>
          </a:prstGeom>
        </p:spPr>
      </p:pic>
    </p:spTree>
    <p:extLst>
      <p:ext uri="{BB962C8B-B14F-4D97-AF65-F5344CB8AC3E}">
        <p14:creationId xmlns:p14="http://schemas.microsoft.com/office/powerpoint/2010/main" val="3015983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18BA46-407F-F545-4BA0-39FF78AB5CA1}"/>
              </a:ext>
            </a:extLst>
          </p:cNvPr>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4" name="Picture 3">
            <a:extLst>
              <a:ext uri="{FF2B5EF4-FFF2-40B4-BE49-F238E27FC236}">
                <a16:creationId xmlns:a16="http://schemas.microsoft.com/office/drawing/2014/main" id="{B2D05134-C6A4-4F76-3E0A-C5718D55A64F}"/>
              </a:ext>
            </a:extLst>
          </p:cNvPr>
          <p:cNvPicPr>
            <a:picLocks noChangeAspect="1"/>
          </p:cNvPicPr>
          <p:nvPr/>
        </p:nvPicPr>
        <p:blipFill>
          <a:blip r:embed="rId2"/>
          <a:stretch>
            <a:fillRect/>
          </a:stretch>
        </p:blipFill>
        <p:spPr>
          <a:xfrm>
            <a:off x="16778" y="0"/>
            <a:ext cx="12192000" cy="6857999"/>
          </a:xfrm>
          <a:prstGeom prst="rect">
            <a:avLst/>
          </a:prstGeom>
        </p:spPr>
      </p:pic>
    </p:spTree>
    <p:extLst>
      <p:ext uri="{BB962C8B-B14F-4D97-AF65-F5344CB8AC3E}">
        <p14:creationId xmlns:p14="http://schemas.microsoft.com/office/powerpoint/2010/main" val="3208513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2F940E-A12A-7ECC-31D3-5C9AE3510C2F}"/>
              </a:ext>
            </a:extLst>
          </p:cNvPr>
          <p:cNvSpPr>
            <a:spLocks noGrp="1"/>
          </p:cNvSpPr>
          <p:nvPr>
            <p:ph type="sldNum" sz="quarter" idx="12"/>
          </p:nvPr>
        </p:nvSpPr>
        <p:spPr/>
        <p:txBody>
          <a:bodyPr/>
          <a:lstStyle/>
          <a:p>
            <a:fld id="{48F63A3B-78C7-47BE-AE5E-E10140E04643}" type="slidenum">
              <a:rPr lang="en-US" smtClean="0"/>
              <a:pPr/>
              <a:t>13</a:t>
            </a:fld>
            <a:endParaRPr lang="en-US" dirty="0"/>
          </a:p>
        </p:txBody>
      </p:sp>
      <p:pic>
        <p:nvPicPr>
          <p:cNvPr id="6" name="Picture 5">
            <a:extLst>
              <a:ext uri="{FF2B5EF4-FFF2-40B4-BE49-F238E27FC236}">
                <a16:creationId xmlns:a16="http://schemas.microsoft.com/office/drawing/2014/main" id="{1748BD76-9F93-D879-30FD-3B2D5134D3A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97811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A2C14-1D60-341F-4BEC-51EF7849E6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FEFC32-4B04-2DE9-49BC-18B8E5A2FDF9}"/>
              </a:ext>
            </a:extLst>
          </p:cNvPr>
          <p:cNvSpPr>
            <a:spLocks noGrp="1"/>
          </p:cNvSpPr>
          <p:nvPr>
            <p:ph type="sldNum" sz="quarter" idx="12"/>
          </p:nvPr>
        </p:nvSpPr>
        <p:spPr/>
        <p:txBody>
          <a:bodyPr/>
          <a:lstStyle/>
          <a:p>
            <a:fld id="{48F63A3B-78C7-47BE-AE5E-E10140E04643}" type="slidenum">
              <a:rPr lang="en-US" smtClean="0"/>
              <a:pPr/>
              <a:t>14</a:t>
            </a:fld>
            <a:endParaRPr lang="en-US" dirty="0"/>
          </a:p>
        </p:txBody>
      </p:sp>
      <p:pic>
        <p:nvPicPr>
          <p:cNvPr id="4" name="Picture 3">
            <a:extLst>
              <a:ext uri="{FF2B5EF4-FFF2-40B4-BE49-F238E27FC236}">
                <a16:creationId xmlns:a16="http://schemas.microsoft.com/office/drawing/2014/main" id="{97D095C3-BF7A-139D-1267-2CA8CB0EA841}"/>
              </a:ext>
            </a:extLst>
          </p:cNvPr>
          <p:cNvPicPr>
            <a:picLocks noChangeAspect="1"/>
          </p:cNvPicPr>
          <p:nvPr/>
        </p:nvPicPr>
        <p:blipFill>
          <a:blip r:embed="rId2"/>
          <a:stretch>
            <a:fillRect/>
          </a:stretch>
        </p:blipFill>
        <p:spPr>
          <a:xfrm>
            <a:off x="0" y="1006678"/>
            <a:ext cx="12192000" cy="5851321"/>
          </a:xfrm>
          <a:prstGeom prst="rect">
            <a:avLst/>
          </a:prstGeom>
        </p:spPr>
      </p:pic>
      <p:sp>
        <p:nvSpPr>
          <p:cNvPr id="5" name="TextBox 4">
            <a:extLst>
              <a:ext uri="{FF2B5EF4-FFF2-40B4-BE49-F238E27FC236}">
                <a16:creationId xmlns:a16="http://schemas.microsoft.com/office/drawing/2014/main" id="{8C23B5E9-CEEA-7057-EF91-E72BC05A88B9}"/>
              </a:ext>
            </a:extLst>
          </p:cNvPr>
          <p:cNvSpPr txBox="1"/>
          <p:nvPr/>
        </p:nvSpPr>
        <p:spPr>
          <a:xfrm>
            <a:off x="3959604" y="318782"/>
            <a:ext cx="4454554" cy="369332"/>
          </a:xfrm>
          <a:prstGeom prst="rect">
            <a:avLst/>
          </a:prstGeom>
          <a:noFill/>
        </p:spPr>
        <p:txBody>
          <a:bodyPr wrap="square" rtlCol="0">
            <a:spAutoFit/>
          </a:bodyPr>
          <a:lstStyle/>
          <a:p>
            <a:pPr algn="ctr"/>
            <a:r>
              <a:rPr lang="en-US" b="1" dirty="0"/>
              <a:t>RESULTS</a:t>
            </a:r>
          </a:p>
        </p:txBody>
      </p:sp>
      <p:pic>
        <p:nvPicPr>
          <p:cNvPr id="8" name="Picture 7">
            <a:extLst>
              <a:ext uri="{FF2B5EF4-FFF2-40B4-BE49-F238E27FC236}">
                <a16:creationId xmlns:a16="http://schemas.microsoft.com/office/drawing/2014/main" id="{899061F4-D0E1-CB4C-F0F2-65A8D68B25B6}"/>
              </a:ext>
            </a:extLst>
          </p:cNvPr>
          <p:cNvPicPr>
            <a:picLocks noChangeAspect="1"/>
          </p:cNvPicPr>
          <p:nvPr/>
        </p:nvPicPr>
        <p:blipFill>
          <a:blip r:embed="rId3"/>
          <a:stretch>
            <a:fillRect/>
          </a:stretch>
        </p:blipFill>
        <p:spPr>
          <a:xfrm>
            <a:off x="0" y="-1"/>
            <a:ext cx="12192000" cy="6857999"/>
          </a:xfrm>
          <a:prstGeom prst="rect">
            <a:avLst/>
          </a:prstGeom>
        </p:spPr>
      </p:pic>
    </p:spTree>
    <p:extLst>
      <p:ext uri="{BB962C8B-B14F-4D97-AF65-F5344CB8AC3E}">
        <p14:creationId xmlns:p14="http://schemas.microsoft.com/office/powerpoint/2010/main" val="1768545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39476-662E-DE66-669D-4314744918C5}"/>
              </a:ext>
            </a:extLst>
          </p:cNvPr>
          <p:cNvSpPr>
            <a:spLocks noGrp="1"/>
          </p:cNvSpPr>
          <p:nvPr>
            <p:ph type="title"/>
          </p:nvPr>
        </p:nvSpPr>
        <p:spPr/>
        <p:txBody>
          <a:bodyPr/>
          <a:lstStyle/>
          <a:p>
            <a:r>
              <a:rPr lang="en-US" dirty="0"/>
              <a:t>conclusion</a:t>
            </a:r>
            <a:br>
              <a:rPr lang="en-US" dirty="0"/>
            </a:br>
            <a:endParaRPr lang="en-US" dirty="0"/>
          </a:p>
        </p:txBody>
      </p:sp>
      <p:sp>
        <p:nvSpPr>
          <p:cNvPr id="3" name="Content Placeholder 2">
            <a:extLst>
              <a:ext uri="{FF2B5EF4-FFF2-40B4-BE49-F238E27FC236}">
                <a16:creationId xmlns:a16="http://schemas.microsoft.com/office/drawing/2014/main" id="{64BBF406-0B8C-862D-B688-657BCA13A8A8}"/>
              </a:ext>
            </a:extLst>
          </p:cNvPr>
          <p:cNvSpPr>
            <a:spLocks noGrp="1"/>
          </p:cNvSpPr>
          <p:nvPr>
            <p:ph sz="quarter" idx="4"/>
          </p:nvPr>
        </p:nvSpPr>
        <p:spPr/>
        <p:txBody>
          <a:bodyPr/>
          <a:lstStyle/>
          <a:p>
            <a:pPr marL="0" indent="0">
              <a:buNone/>
            </a:pPr>
            <a:r>
              <a:rPr lang="en-US" dirty="0"/>
              <a:t>This project demonstrates the successful development of an efficient and reliable pedestrian detection system using advanced deep learning and optimization techniques. By integrating the YOLOv8 model with the </a:t>
            </a:r>
            <a:r>
              <a:rPr lang="en-US" dirty="0" err="1"/>
              <a:t>OpenVINO</a:t>
            </a:r>
            <a:r>
              <a:rPr lang="en-US" dirty="0"/>
              <a:t> toolkit, the system achieves accurate real-time pedestrian detection while maintaining high performance and reduced computational complexity. The use of the KITTI Vision Benchmark dataset enabled effective training and evaluation under diverse real-world conditions. The project highlights the importance of computer vision in intelligent surveillance, traffic monitoring, and smart city applications. Overall, the proposed system provides a scalable and practical solution for real-time object detection and can be further enhanced in the future with improved datasets, advanced tracking algorithms, and deployment on edge devices for wider real-world adoption.</a:t>
            </a:r>
          </a:p>
        </p:txBody>
      </p:sp>
      <p:sp>
        <p:nvSpPr>
          <p:cNvPr id="4" name="Slide Number Placeholder 3">
            <a:extLst>
              <a:ext uri="{FF2B5EF4-FFF2-40B4-BE49-F238E27FC236}">
                <a16:creationId xmlns:a16="http://schemas.microsoft.com/office/drawing/2014/main" id="{B4AB97EF-EBF9-F8AF-C13D-69CBB0BC27F1}"/>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4171630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D9C95-E158-DA35-CA87-9B4E69A90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D4626-32A0-ED9C-8BFA-A046CD9A393A}"/>
              </a:ext>
            </a:extLst>
          </p:cNvPr>
          <p:cNvSpPr>
            <a:spLocks noGrp="1"/>
          </p:cNvSpPr>
          <p:nvPr>
            <p:ph type="title"/>
          </p:nvPr>
        </p:nvSpPr>
        <p:spPr/>
        <p:txBody>
          <a:bodyPr/>
          <a:lstStyle/>
          <a:p>
            <a:r>
              <a:rPr lang="en-US" dirty="0"/>
              <a:t>Future scope</a:t>
            </a:r>
            <a:br>
              <a:rPr lang="en-US" dirty="0"/>
            </a:br>
            <a:endParaRPr lang="en-US" dirty="0"/>
          </a:p>
        </p:txBody>
      </p:sp>
      <p:sp>
        <p:nvSpPr>
          <p:cNvPr id="3" name="Content Placeholder 2">
            <a:extLst>
              <a:ext uri="{FF2B5EF4-FFF2-40B4-BE49-F238E27FC236}">
                <a16:creationId xmlns:a16="http://schemas.microsoft.com/office/drawing/2014/main" id="{59D3C472-71A2-8977-8FD1-81B9FD196836}"/>
              </a:ext>
            </a:extLst>
          </p:cNvPr>
          <p:cNvSpPr>
            <a:spLocks noGrp="1"/>
          </p:cNvSpPr>
          <p:nvPr>
            <p:ph sz="quarter" idx="4"/>
          </p:nvPr>
        </p:nvSpPr>
        <p:spPr/>
        <p:txBody>
          <a:bodyPr/>
          <a:lstStyle/>
          <a:p>
            <a:pPr marL="0" indent="0">
              <a:buNone/>
            </a:pPr>
            <a:r>
              <a:rPr lang="en-US" dirty="0"/>
              <a:t>The future scope of this project includes improving detection accuracy and speed by using more advanced deep learning architectures and larger diversified datasets. The system can be extended to support multi-object detection, pedestrian tracking, and behavior analysis for enhanced real-time surveillance applications. Integration with edge devices, IoT systems, and cloud platforms can enable efficient deployment in smart cities, autonomous vehicles, and traffic management systems. Further enhancements such as low-light detection, weather-resistant performance, and real-time alert mechanisms can increase the reliability and usability of the system in complex real-world environments.</a:t>
            </a:r>
          </a:p>
        </p:txBody>
      </p:sp>
      <p:sp>
        <p:nvSpPr>
          <p:cNvPr id="4" name="Slide Number Placeholder 3">
            <a:extLst>
              <a:ext uri="{FF2B5EF4-FFF2-40B4-BE49-F238E27FC236}">
                <a16:creationId xmlns:a16="http://schemas.microsoft.com/office/drawing/2014/main" id="{E46776EA-A531-B606-A758-084DAB2C5D9D}"/>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2913129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B55D-2F71-F2C5-697C-8D4E48E3A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E53FE-C0FC-42DB-BF15-52F28CF976C6}"/>
              </a:ext>
            </a:extLst>
          </p:cNvPr>
          <p:cNvSpPr>
            <a:spLocks noGrp="1"/>
          </p:cNvSpPr>
          <p:nvPr>
            <p:ph type="title"/>
          </p:nvPr>
        </p:nvSpPr>
        <p:spPr/>
        <p:txBody>
          <a:bodyPr/>
          <a:lstStyle/>
          <a:p>
            <a:r>
              <a:rPr lang="en-US" dirty="0"/>
              <a:t>References</a:t>
            </a:r>
            <a:br>
              <a:rPr lang="en-US" dirty="0"/>
            </a:br>
            <a:endParaRPr lang="en-US" dirty="0"/>
          </a:p>
        </p:txBody>
      </p:sp>
      <p:sp>
        <p:nvSpPr>
          <p:cNvPr id="3" name="Content Placeholder 2">
            <a:extLst>
              <a:ext uri="{FF2B5EF4-FFF2-40B4-BE49-F238E27FC236}">
                <a16:creationId xmlns:a16="http://schemas.microsoft.com/office/drawing/2014/main" id="{101596B2-6EC4-C31D-3221-EE539466F917}"/>
              </a:ext>
            </a:extLst>
          </p:cNvPr>
          <p:cNvSpPr>
            <a:spLocks noGrp="1"/>
          </p:cNvSpPr>
          <p:nvPr>
            <p:ph sz="quarter" idx="4"/>
          </p:nvPr>
        </p:nvSpPr>
        <p:spPr/>
        <p:txBody>
          <a:bodyPr/>
          <a:lstStyle/>
          <a:p>
            <a:r>
              <a:rPr lang="en-US" dirty="0"/>
              <a:t>Redmon, Joseph, et al. “You Only Look Once: Unified, Real-Time Object Detection.” </a:t>
            </a:r>
            <a:r>
              <a:rPr lang="en-US" i="1" dirty="0"/>
              <a:t>Proceedings of the IEEE Conference on Computer Vision and Pattern Recognition (CVPR)</a:t>
            </a:r>
            <a:r>
              <a:rPr lang="en-US" dirty="0"/>
              <a:t>, 2016, pp. 779–788.</a:t>
            </a:r>
          </a:p>
          <a:p>
            <a:r>
              <a:rPr lang="en-US" dirty="0" err="1"/>
              <a:t>Ultralytics</a:t>
            </a:r>
            <a:r>
              <a:rPr lang="en-US" dirty="0"/>
              <a:t>. </a:t>
            </a:r>
            <a:r>
              <a:rPr lang="en-US" i="1" dirty="0"/>
              <a:t>YOLOv8 Documentation</a:t>
            </a:r>
            <a:r>
              <a:rPr lang="en-US" dirty="0"/>
              <a:t>. </a:t>
            </a:r>
            <a:r>
              <a:rPr lang="en-US" dirty="0" err="1"/>
              <a:t>Ultralytics</a:t>
            </a:r>
            <a:r>
              <a:rPr lang="en-US" dirty="0"/>
              <a:t> Inc., 2023, </a:t>
            </a:r>
            <a:r>
              <a:rPr lang="en-US" dirty="0">
                <a:hlinkClick r:id="rId2"/>
              </a:rPr>
              <a:t>https://docs.ultralytics.com</a:t>
            </a:r>
            <a:r>
              <a:rPr lang="en-US" dirty="0"/>
              <a:t>.</a:t>
            </a:r>
          </a:p>
          <a:p>
            <a:r>
              <a:rPr lang="en-US" dirty="0"/>
              <a:t>Geiger, Andreas, Philip Lenz, and Raquel Urtasun. “Are We Ready for Autonomous Driving? The KITTI Vision Benchmark Suite.” </a:t>
            </a:r>
            <a:r>
              <a:rPr lang="en-US" i="1" dirty="0"/>
              <a:t>Proceedings of the IEEE Conference on Computer Vision and Pattern Recognition (CVPR)</a:t>
            </a:r>
            <a:r>
              <a:rPr lang="en-US" dirty="0"/>
              <a:t>, 2012, pp. 3354–3361.</a:t>
            </a:r>
          </a:p>
          <a:p>
            <a:r>
              <a:rPr lang="en-US" dirty="0"/>
              <a:t>Dalal, Navneet, and Bill Triggs. “Histograms of Oriented Gradients for Human Detection.” </a:t>
            </a:r>
            <a:r>
              <a:rPr lang="en-US" i="1" dirty="0"/>
              <a:t>Proceedings of the IEEE Conference on Computer Vision and Pattern Recognition (CVPR)</a:t>
            </a:r>
            <a:r>
              <a:rPr lang="en-US" dirty="0"/>
              <a:t>, 2005, pp. 886–893.</a:t>
            </a:r>
          </a:p>
          <a:p>
            <a:r>
              <a:rPr lang="en-US" dirty="0" err="1"/>
              <a:t>Girshick</a:t>
            </a:r>
            <a:r>
              <a:rPr lang="en-US" dirty="0"/>
              <a:t>, Ross, et al. “Rich Feature Hierarchies for Accurate Object Detection and Semantic Segmentation.” </a:t>
            </a:r>
            <a:r>
              <a:rPr lang="en-US" i="1" dirty="0"/>
              <a:t>Proceedings of the IEEE Conference on Computer Vision and Pattern Recognition (CVPR)</a:t>
            </a:r>
            <a:r>
              <a:rPr lang="en-US" dirty="0"/>
              <a:t>, 2014, pp. 580–587.</a:t>
            </a:r>
          </a:p>
        </p:txBody>
      </p:sp>
      <p:sp>
        <p:nvSpPr>
          <p:cNvPr id="4" name="Slide Number Placeholder 3">
            <a:extLst>
              <a:ext uri="{FF2B5EF4-FFF2-40B4-BE49-F238E27FC236}">
                <a16:creationId xmlns:a16="http://schemas.microsoft.com/office/drawing/2014/main" id="{E5B0316C-D488-E9BB-9558-18AD6B86BB32}"/>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3079570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EA0AD-EAB7-B27A-C6B5-8A991D5E1F4D}"/>
              </a:ext>
            </a:extLst>
          </p:cNvPr>
          <p:cNvSpPr>
            <a:spLocks noGrp="1"/>
          </p:cNvSpPr>
          <p:nvPr>
            <p:ph type="ctrTitle"/>
          </p:nvPr>
        </p:nvSpPr>
        <p:spPr/>
        <p:txBody>
          <a:bodyPr/>
          <a:lstStyle/>
          <a:p>
            <a:r>
              <a:rPr lang="en-US" sz="1600" b="0" dirty="0"/>
              <a:t>We believe this project lays a strong foundation for future research in real-time, context-aware pedestrian detection.</a:t>
            </a:r>
            <a:br>
              <a:rPr lang="en-US" dirty="0"/>
            </a:br>
            <a:endParaRPr lang="en-US" dirty="0"/>
          </a:p>
        </p:txBody>
      </p:sp>
      <p:sp>
        <p:nvSpPr>
          <p:cNvPr id="3" name="Subtitle 2">
            <a:extLst>
              <a:ext uri="{FF2B5EF4-FFF2-40B4-BE49-F238E27FC236}">
                <a16:creationId xmlns:a16="http://schemas.microsoft.com/office/drawing/2014/main" id="{4242385C-49A9-C81B-D97E-F40E3540E12B}"/>
              </a:ext>
            </a:extLst>
          </p:cNvPr>
          <p:cNvSpPr>
            <a:spLocks noGrp="1"/>
          </p:cNvSpPr>
          <p:nvPr>
            <p:ph type="subTitle" idx="1"/>
          </p:nvPr>
        </p:nvSpPr>
        <p:spPr/>
        <p:txBody>
          <a:bodyPr>
            <a:normAutofit/>
          </a:bodyPr>
          <a:lstStyle/>
          <a:p>
            <a:r>
              <a:rPr lang="en-US" sz="3200" b="1" dirty="0"/>
              <a:t>THANK YOU!!!</a:t>
            </a:r>
          </a:p>
        </p:txBody>
      </p:sp>
    </p:spTree>
    <p:extLst>
      <p:ext uri="{BB962C8B-B14F-4D97-AF65-F5344CB8AC3E}">
        <p14:creationId xmlns:p14="http://schemas.microsoft.com/office/powerpoint/2010/main" val="3248075781"/>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{35C7F03F-223A-4AE8-A864-4310C5F2A41D}TF8a9b5915-b8c7-461e-8cdd-693d48b5e323ce9b6712_win32-ed29711e7285</Template>
  <TotalTime>7234</TotalTime>
  <Words>1419</Words>
  <Application>Microsoft Office PowerPoint</Application>
  <PresentationFormat>Widescreen</PresentationFormat>
  <Paragraphs>129</Paragraphs>
  <Slides>18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 Display</vt:lpstr>
      <vt:lpstr>Arial</vt:lpstr>
      <vt:lpstr>Arial Black</vt:lpstr>
      <vt:lpstr>Calibri</vt:lpstr>
      <vt:lpstr>Sabon Next LT</vt:lpstr>
      <vt:lpstr>Custom</vt:lpstr>
      <vt:lpstr> </vt:lpstr>
      <vt:lpstr>Abstract:</vt:lpstr>
      <vt:lpstr>PowerPoint Presentation</vt:lpstr>
      <vt:lpstr> Existing Systems </vt:lpstr>
      <vt:lpstr>Limitations of existing systems</vt:lpstr>
      <vt:lpstr>Proposed System</vt:lpstr>
      <vt:lpstr>technologies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Future scope </vt:lpstr>
      <vt:lpstr>References </vt:lpstr>
      <vt:lpstr>We believe this project lays a strong foundation for future research in real-time, context-aware pedestrian detection.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 Srikar Patuvardhanam</dc:creator>
  <cp:lastModifiedBy>Sai Srikar Patuvardhanam</cp:lastModifiedBy>
  <cp:revision>14</cp:revision>
  <dcterms:created xsi:type="dcterms:W3CDTF">2025-09-07T12:20:54Z</dcterms:created>
  <dcterms:modified xsi:type="dcterms:W3CDTF">2026-05-09T00:56:04Z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